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Primary content: DeepErase_Panel_PPT.pdf (user supplied).</a:t>
            </a:r>
          </a:p>
          <a:p>
            <a:r>
              <a:t>Visuals: user-supplied DeepErase technical diagrams.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2F49B576-1244-4D5A-898B-8A7E6F00905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71450" cy="6858000"/>
          </a:xfrm>
          <a:prstGeom prst="roundRect">
            <a:avLst>
              <a:gd name="adj" fmla="val 44444"/>
            </a:avLst>
          </a:prstGeom>
          <a:solidFill>
            <a:srgbClr val="0B2E63"/>
          </a:solidFill>
          <a:ln w="9525">
            <a:solidFill>
              <a:srgbClr val="0B2E63"/>
            </a:solidFill>
            <a:prstDash val="solid"/>
          </a:ln>
        </p:spPr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1F1838B-BA7E-41A4-8120-C5F6FF4C8883}"/>
              </a:ext>
            </a:extLst>
          </p:cNvPr>
          <p:cNvSpPr>
            <a:spLocks noGrp="1"/>
          </p:cNvSpPr>
          <p:nvPr/>
        </p:nvSpPr>
        <p:spPr>
          <a:xfrm>
            <a:off x="171450" y="0"/>
            <a:ext cx="66675" cy="6858000"/>
          </a:xfrm>
          <a:prstGeom prst="roundRect">
            <a:avLst>
              <a:gd name="adj" fmla="val 50000"/>
            </a:avLst>
          </a:prstGeom>
          <a:solidFill>
            <a:srgbClr val="3D78C5"/>
          </a:solidFill>
          <a:ln w="9525">
            <a:solidFill>
              <a:srgbClr val="3D78C5"/>
            </a:solidFill>
            <a:prstDash val="solid"/>
          </a:ln>
        </p:spPr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B77DDD2-0DD6-4B74-8564-A5BDD11F05A8}"/>
              </a:ext>
            </a:extLst>
          </p:cNvPr>
          <p:cNvSpPr>
            <a:spLocks noGrp="1"/>
          </p:cNvSpPr>
          <p:nvPr/>
        </p:nvSpPr>
        <p:spPr>
          <a:xfrm>
            <a:off x="781050" y="723900"/>
            <a:ext cx="4762500" cy="266700"/>
          </a:xfrm>
          <a:prstGeom prst="roundRect">
            <a:avLst>
              <a:gd name="adj" fmla="val 50000"/>
            </a:avLst>
          </a:prstGeom>
          <a:solidFill>
            <a:srgbClr val="0B2E63"/>
          </a:solidFill>
          <a:ln w="9525">
            <a:solidFill>
              <a:srgbClr val="0B2E63"/>
            </a:solidFill>
            <a:prstDash val="solid"/>
          </a:ln>
        </p:spPr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53F6448-3D05-4F84-97B3-8E53D91B2BBB}"/>
              </a:ext>
            </a:extLst>
          </p:cNvPr>
          <p:cNvSpPr>
            <a:spLocks noGrp="1"/>
          </p:cNvSpPr>
          <p:nvPr/>
        </p:nvSpPr>
        <p:spPr>
          <a:xfrm>
            <a:off x="781050" y="733425"/>
            <a:ext cx="4762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CPG 221 · CAPSTONE PROJECT · MID-SEMESTER PANEL EVALUATION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693244E-4CC2-4F0C-91A9-85E4ED9D7674}"/>
              </a:ext>
            </a:extLst>
          </p:cNvPr>
          <p:cNvSpPr>
            <a:spLocks noGrp="1"/>
          </p:cNvSpPr>
          <p:nvPr/>
        </p:nvSpPr>
        <p:spPr>
          <a:xfrm>
            <a:off x="781050" y="1438275"/>
            <a:ext cx="6477000" cy="809625"/>
          </a:xfrm>
          <a:prstGeom prst="roundRect">
            <a:avLst>
              <a:gd name="adj" fmla="val 941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4650" b="1">
                <a:solidFill>
                  <a:srgbClr val="0B2E63"/>
                </a:solidFill>
              </a:defRPr>
            </a:pPr>
            <a:r>
              <a:rPr sz="4650" b="1">
                <a:solidFill>
                  <a:srgbClr val="0B2E63"/>
                </a:solidFill>
              </a:rPr>
              <a:t>DeepErase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2293F7-9AF8-4A19-AF0B-42297639CF3B}"/>
              </a:ext>
            </a:extLst>
          </p:cNvPr>
          <p:cNvSpPr>
            <a:spLocks noGrp="1"/>
          </p:cNvSpPr>
          <p:nvPr/>
        </p:nvSpPr>
        <p:spPr>
          <a:xfrm>
            <a:off x="781050" y="2352675"/>
            <a:ext cx="6667500" cy="762000"/>
          </a:xfrm>
          <a:prstGeom prst="roundRect">
            <a:avLst>
              <a:gd name="adj" fmla="val 1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100" b="0">
                <a:solidFill>
                  <a:srgbClr val="14213D"/>
                </a:solidFill>
              </a:defRPr>
            </a:pPr>
            <a:r>
              <a:rPr sz="2100" b="0">
                <a:solidFill>
                  <a:srgbClr val="14213D"/>
                </a:solidFill>
              </a:rPr>
              <a:t>Measuring the Depth and Breadth of Knowledge Removal</a:t>
            </a:r>
          </a:p>
          <a:p>
            <a:pPr algn="l">
              <a:defRPr sz="2100" b="0">
                <a:solidFill>
                  <a:srgbClr val="14213D"/>
                </a:solidFill>
              </a:defRPr>
            </a:pPr>
            <a:r>
              <a:rPr sz="2100" b="0">
                <a:solidFill>
                  <a:srgbClr val="14213D"/>
                </a:solidFill>
              </a:rPr>
              <a:t>in Large Language Model Unlearning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BCFEF6-EAFE-4AC9-A93B-72E3AD819EB4}"/>
              </a:ext>
            </a:extLst>
          </p:cNvPr>
          <p:cNvSpPr>
            <a:spLocks noGrp="1"/>
          </p:cNvSpPr>
          <p:nvPr/>
        </p:nvSpPr>
        <p:spPr>
          <a:xfrm>
            <a:off x="869540" y="3660980"/>
            <a:ext cx="10096500" cy="1752600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38595CD-840B-45DC-B6CA-090A3908F737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2860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Team Members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B502138-B2CE-46D5-B2AD-351C466B37CA}"/>
              </a:ext>
            </a:extLst>
          </p:cNvPr>
          <p:cNvSpPr>
            <a:spLocks noGrp="1"/>
          </p:cNvSpPr>
          <p:nvPr/>
        </p:nvSpPr>
        <p:spPr>
          <a:xfrm>
            <a:off x="1047750" y="4181475"/>
            <a:ext cx="2857500" cy="1009650"/>
          </a:xfrm>
          <a:prstGeom prst="roundRect">
            <a:avLst>
              <a:gd name="adj" fmla="val 754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 dirty="0">
                <a:solidFill>
                  <a:srgbClr val="14213D"/>
                </a:solidFill>
              </a:rPr>
              <a:t>Rishabh Garg · 102317044</a:t>
            </a:r>
          </a:p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 dirty="0">
                <a:solidFill>
                  <a:srgbClr val="14213D"/>
                </a:solidFill>
              </a:rPr>
              <a:t>Karanvir Singh · 102317045</a:t>
            </a:r>
          </a:p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 dirty="0">
                <a:solidFill>
                  <a:srgbClr val="14213D"/>
                </a:solidFill>
              </a:rPr>
              <a:t>Kalpesh Paliwal · 102317087</a:t>
            </a:r>
          </a:p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 dirty="0">
                <a:solidFill>
                  <a:srgbClr val="14213D"/>
                </a:solidFill>
              </a:rPr>
              <a:t>Rujul Ganjoo · 102317200</a:t>
            </a:r>
          </a:p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 dirty="0">
                <a:solidFill>
                  <a:srgbClr val="14213D"/>
                </a:solidFill>
              </a:rPr>
              <a:t>Pranav Goyal · 102303829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B96CB9-FB4B-41AB-93C0-5E7C22C6F2B5}"/>
              </a:ext>
            </a:extLst>
          </p:cNvPr>
          <p:cNvSpPr>
            <a:spLocks noGrp="1"/>
          </p:cNvSpPr>
          <p:nvPr/>
        </p:nvSpPr>
        <p:spPr>
          <a:xfrm>
            <a:off x="6286500" y="3848100"/>
            <a:ext cx="2857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Project Mentor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C1368344-8BEC-42C0-AE22-49CCB6021326}"/>
              </a:ext>
            </a:extLst>
          </p:cNvPr>
          <p:cNvSpPr>
            <a:spLocks noGrp="1"/>
          </p:cNvSpPr>
          <p:nvPr/>
        </p:nvSpPr>
        <p:spPr>
          <a:xfrm>
            <a:off x="6286500" y="4181475"/>
            <a:ext cx="3714750" cy="800100"/>
          </a:xfrm>
          <a:prstGeom prst="roundRect">
            <a:avLst>
              <a:gd name="adj" fmla="val 952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Dr. Suresh Kumar Chaudhary</a:t>
            </a:r>
          </a:p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Assistant Professor, CSE</a:t>
            </a:r>
          </a:p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Thapar Institute of Engineering and Technology, Patiala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5798FEB-11E7-4183-B838-434300FE9E1E}"/>
              </a:ext>
            </a:extLst>
          </p:cNvPr>
          <p:cNvSpPr>
            <a:spLocks noGrp="1"/>
          </p:cNvSpPr>
          <p:nvPr/>
        </p:nvSpPr>
        <p:spPr>
          <a:xfrm>
            <a:off x="781050" y="6096000"/>
            <a:ext cx="4762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B6780"/>
                </a:solidFill>
              </a:defRPr>
            </a:pPr>
            <a:r>
              <a:rPr sz="1050" b="1" dirty="0">
                <a:solidFill>
                  <a:srgbClr val="5B6780"/>
                </a:solidFill>
              </a:rPr>
              <a:t>BE , </a:t>
            </a:r>
            <a:r>
              <a:rPr sz="1050" b="1" dirty="0" err="1">
                <a:solidFill>
                  <a:srgbClr val="5B6780"/>
                </a:solidFill>
              </a:rPr>
              <a:t>CoE</a:t>
            </a:r>
            <a:r>
              <a:rPr sz="1050" b="1" dirty="0">
                <a:solidFill>
                  <a:srgbClr val="5B6780"/>
                </a:solidFill>
              </a:rPr>
              <a:t>/</a:t>
            </a:r>
            <a:r>
              <a:rPr sz="1050" b="1" dirty="0" err="1">
                <a:solidFill>
                  <a:srgbClr val="5B6780"/>
                </a:solidFill>
              </a:rPr>
              <a:t>CoSE</a:t>
            </a:r>
            <a:r>
              <a:rPr sz="1050" b="1" dirty="0">
                <a:solidFill>
                  <a:srgbClr val="5B6780"/>
                </a:solidFill>
              </a:rPr>
              <a:t> · August 2026</a:t>
            </a:r>
          </a:p>
        </p:txBody>
      </p:sp>
    </p:spTree>
    <p:extLst>
      <p:ext uri="{BB962C8B-B14F-4D97-AF65-F5344CB8AC3E}">
        <p14:creationId xmlns:p14="http://schemas.microsoft.com/office/powerpoint/2010/main" val="8341758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8479141-E975-4BB9-851C-BDA0012EBFB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PROBLEM DEFINITION &amp; SCOPE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223E8382-61A7-4A79-8D70-E174F1CCF368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Removal must be measured beyond surface refusal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1DF3A0F-76C9-49E9-B1F6-952CD1DA1F25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02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B81F3E4-3A82-4176-B81A-7426A556C6B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7D861F-C0A5-4503-BDA2-74EC3129199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Problem Definition &amp; Scope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AE4E215-990C-4FCF-B74E-9ED827AA1507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D5FF360-D354-4FAE-A26D-07B9E25EDB4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92392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0">
                <a:solidFill>
                  <a:srgbClr val="5B6780"/>
                </a:solidFill>
              </a:defRPr>
            </a:pPr>
            <a:r>
              <a:rPr sz="1500" b="0">
                <a:solidFill>
                  <a:srgbClr val="5B6780"/>
                </a:solidFill>
              </a:rPr>
              <a:t>An answer can disappear while the underlying fact remains internally available.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74D59C-7992-46D0-8507-D36606CFCB40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28575" cy="1123950"/>
          </a:xfrm>
          <a:prstGeom prst="roundRect">
            <a:avLst>
              <a:gd name="adj" fmla="val 50000"/>
            </a:avLst>
          </a:prstGeom>
          <a:solidFill>
            <a:srgbClr val="1F7A45"/>
          </a:solidFill>
          <a:ln w="9525">
            <a:solidFill>
              <a:srgbClr val="1F7A4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062DA6-390A-4874-B96A-C4A266C906F3}"/>
              </a:ext>
            </a:extLst>
          </p:cNvPr>
          <p:cNvSpPr>
            <a:spLocks noGrp="1"/>
          </p:cNvSpPr>
          <p:nvPr/>
        </p:nvSpPr>
        <p:spPr>
          <a:xfrm>
            <a:off x="781050" y="2114550"/>
            <a:ext cx="481965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F7A45"/>
                </a:solidFill>
              </a:defRPr>
            </a:pPr>
            <a:r>
              <a:rPr sz="1200" b="1">
                <a:solidFill>
                  <a:srgbClr val="1F7A45"/>
                </a:solidFill>
              </a:rPr>
              <a:t>REMOVED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7771F5D-A570-4DF7-859D-33E593CA6AA6}"/>
              </a:ext>
            </a:extLst>
          </p:cNvPr>
          <p:cNvSpPr>
            <a:spLocks noGrp="1"/>
          </p:cNvSpPr>
          <p:nvPr/>
        </p:nvSpPr>
        <p:spPr>
          <a:xfrm>
            <a:off x="781050" y="2409825"/>
            <a:ext cx="4819650" cy="685800"/>
          </a:xfrm>
          <a:prstGeom prst="roundRect">
            <a:avLst>
              <a:gd name="adj" fmla="val 1111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The fact is genuinely absent from the model’s internal representation.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5505FA1-CF3D-4D3B-A099-083CDEE74CC9}"/>
              </a:ext>
            </a:extLst>
          </p:cNvPr>
          <p:cNvSpPr>
            <a:spLocks noGrp="1"/>
          </p:cNvSpPr>
          <p:nvPr/>
        </p:nvSpPr>
        <p:spPr>
          <a:xfrm>
            <a:off x="5924550" y="2019300"/>
            <a:ext cx="28575" cy="112395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0F6014E-7D29-4D86-A971-B3C2EB89C31E}"/>
              </a:ext>
            </a:extLst>
          </p:cNvPr>
          <p:cNvSpPr>
            <a:spLocks noGrp="1"/>
          </p:cNvSpPr>
          <p:nvPr/>
        </p:nvSpPr>
        <p:spPr>
          <a:xfrm>
            <a:off x="6096000" y="2114550"/>
            <a:ext cx="481965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SUPPRESSED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F9D33FA-65DB-4F2B-AEFC-6E866774F643}"/>
              </a:ext>
            </a:extLst>
          </p:cNvPr>
          <p:cNvSpPr>
            <a:spLocks noGrp="1"/>
          </p:cNvSpPr>
          <p:nvPr/>
        </p:nvSpPr>
        <p:spPr>
          <a:xfrm>
            <a:off x="6096000" y="2409825"/>
            <a:ext cx="4819650" cy="685800"/>
          </a:xfrm>
          <a:prstGeom prst="roundRect">
            <a:avLst>
              <a:gd name="adj" fmla="val 1111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The model may still hold the fact, but has learned not to state it.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157907B-CD64-4049-97D5-50D00B497C48}"/>
              </a:ext>
            </a:extLst>
          </p:cNvPr>
          <p:cNvSpPr>
            <a:spLocks noGrp="1"/>
          </p:cNvSpPr>
          <p:nvPr/>
        </p:nvSpPr>
        <p:spPr>
          <a:xfrm>
            <a:off x="609600" y="3467100"/>
            <a:ext cx="10363200" cy="1028700"/>
          </a:xfrm>
          <a:prstGeom prst="roundRect">
            <a:avLst>
              <a:gd name="adj" fmla="val 11111"/>
            </a:avLst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5E5E8E7-1E88-4FB7-B4D1-CA25609C93C4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200025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Research problem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D3A6AA1-4F73-406D-9193-4AE2CE4CF877}"/>
              </a:ext>
            </a:extLst>
          </p:cNvPr>
          <p:cNvSpPr>
            <a:spLocks noGrp="1"/>
          </p:cNvSpPr>
          <p:nvPr/>
        </p:nvSpPr>
        <p:spPr>
          <a:xfrm>
            <a:off x="857250" y="3962400"/>
            <a:ext cx="9715500" cy="381000"/>
          </a:xfrm>
          <a:prstGeom prst="roundRect">
            <a:avLst>
              <a:gd name="adj" fmla="val 2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For an unlearned model, determine how deeply target knowledge is removed, how broadly that removal generalises beyond exact wording, and how both vary with unlearning strength.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3787A73-E188-49D6-8C5F-719FE080B05A}"/>
              </a:ext>
            </a:extLst>
          </p:cNvPr>
          <p:cNvSpPr>
            <a:spLocks noGrp="1"/>
          </p:cNvSpPr>
          <p:nvPr/>
        </p:nvSpPr>
        <p:spPr>
          <a:xfrm>
            <a:off x="609600" y="4914900"/>
            <a:ext cx="200025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In scope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527F0B5-D746-467E-9EC7-1DD2A5AF9194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4953000" cy="857250"/>
          </a:xfrm>
          <a:prstGeom prst="roundRect">
            <a:avLst>
              <a:gd name="adj" fmla="val 888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Depth: two-stage activation patching (UDS)</a:t>
            </a:r>
          </a:p>
          <a:p>
            <a:pPr algn="l"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Breadth: tiered forced-choice probes calibrated to reference models</a:t>
            </a:r>
          </a:p>
          <a:p>
            <a:pPr algn="l"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GA, GradDiff, NPO with a utility floor · TOFU · Llama-3.2 1B / 3B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F3215064-0DCE-4F01-AF60-2AA831C9A2CE}"/>
              </a:ext>
            </a:extLst>
          </p:cNvPr>
          <p:cNvSpPr>
            <a:spLocks noGrp="1"/>
          </p:cNvSpPr>
          <p:nvPr/>
        </p:nvSpPr>
        <p:spPr>
          <a:xfrm>
            <a:off x="6143625" y="4914900"/>
            <a:ext cx="200025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B42318"/>
                </a:solidFill>
              </a:defRPr>
            </a:pPr>
            <a:r>
              <a:rPr sz="1200" b="1">
                <a:solidFill>
                  <a:srgbClr val="B42318"/>
                </a:solidFill>
              </a:rPr>
              <a:t>Out of scope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8039F678-E7E2-413B-9F7B-72782CAF5A3C}"/>
              </a:ext>
            </a:extLst>
          </p:cNvPr>
          <p:cNvSpPr>
            <a:spLocks noGrp="1"/>
          </p:cNvSpPr>
          <p:nvPr/>
        </p:nvSpPr>
        <p:spPr>
          <a:xfrm>
            <a:off x="6143625" y="5219700"/>
            <a:ext cx="4762500" cy="800100"/>
          </a:xfrm>
          <a:prstGeom prst="roundRect">
            <a:avLst>
              <a:gd name="adj" fmla="val 952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New unlearning methods or competitive claims</a:t>
            </a:r>
          </a:p>
          <a:p>
            <a:pPr algn="l"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Closed-weight models or scales beyond 3B</a:t>
            </a:r>
          </a:p>
          <a:p>
            <a:pPr algn="l">
              <a:defRPr sz="120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Adversarial attack development and formal privacy guarantees</a:t>
            </a:r>
          </a:p>
        </p:txBody>
      </p:sp>
    </p:spTree>
    <p:extLst>
      <p:ext uri="{BB962C8B-B14F-4D97-AF65-F5344CB8AC3E}">
        <p14:creationId xmlns:p14="http://schemas.microsoft.com/office/powerpoint/2010/main" val="922416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3EDECE8-4FD7-433A-9E21-19AEBDDDEB92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PROBLEM DEFINITION &amp; SCOPE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7D55BEC-4B75-4AC9-BB15-43CF33E2248A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Approved objectives and current status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25EFD18-1CDA-42F6-A66D-354B1FE43D44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03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3C6381-DCEE-45E3-812D-D59C27FD2B0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9962B06-9539-4B18-B1CB-085872BEF52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Problem Definition &amp; Scope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1890DB-EE31-40E7-A979-FC3BED3B2F46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A6BDC06-9676-4AC4-8A58-7B20DA2CC40C}"/>
              </a:ext>
            </a:extLst>
          </p:cNvPr>
          <p:cNvSpPr>
            <a:spLocks noGrp="1"/>
          </p:cNvSpPr>
          <p:nvPr/>
        </p:nvSpPr>
        <p:spPr>
          <a:xfrm>
            <a:off x="895350" y="1504950"/>
            <a:ext cx="619125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4B96"/>
                </a:solidFill>
              </a:defRPr>
            </a:pPr>
            <a:r>
              <a:rPr sz="1275" b="1">
                <a:solidFill>
                  <a:srgbClr val="174B96"/>
                </a:solidFill>
              </a:rPr>
              <a:t>Objective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8CD420E-01DF-4622-BFF3-50DFCFEEBDAF}"/>
              </a:ext>
            </a:extLst>
          </p:cNvPr>
          <p:cNvSpPr>
            <a:spLocks noGrp="1"/>
          </p:cNvSpPr>
          <p:nvPr/>
        </p:nvSpPr>
        <p:spPr>
          <a:xfrm>
            <a:off x="8572500" y="1504950"/>
            <a:ext cx="2095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4B96"/>
                </a:solidFill>
              </a:defRPr>
            </a:pPr>
            <a:r>
              <a:rPr sz="1275" b="1">
                <a:solidFill>
                  <a:srgbClr val="174B96"/>
                </a:solidFill>
              </a:rPr>
              <a:t>Status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F57C199-FAA9-4CBF-8258-F4F54551A8CC}"/>
              </a:ext>
            </a:extLst>
          </p:cNvPr>
          <p:cNvSpPr>
            <a:spLocks noGrp="1"/>
          </p:cNvSpPr>
          <p:nvPr/>
        </p:nvSpPr>
        <p:spPr>
          <a:xfrm>
            <a:off x="704850" y="18478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106A1DB-F6A0-4D0B-ABF6-224AB87F1D36}"/>
              </a:ext>
            </a:extLst>
          </p:cNvPr>
          <p:cNvSpPr>
            <a:spLocks noGrp="1"/>
          </p:cNvSpPr>
          <p:nvPr/>
        </p:nvSpPr>
        <p:spPr>
          <a:xfrm>
            <a:off x="876300" y="1943100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F7A45"/>
          </a:solidFill>
          <a:ln w="9525">
            <a:solidFill>
              <a:srgbClr val="1F7A45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260170E-6BBD-467F-92EA-27E0BCDEA60F}"/>
              </a:ext>
            </a:extLst>
          </p:cNvPr>
          <p:cNvSpPr>
            <a:spLocks noGrp="1"/>
          </p:cNvSpPr>
          <p:nvPr/>
        </p:nvSpPr>
        <p:spPr>
          <a:xfrm>
            <a:off x="876300" y="1952625"/>
            <a:ext cx="4191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6657F45-516C-4F17-AA0A-43B157EA88C3}"/>
              </a:ext>
            </a:extLst>
          </p:cNvPr>
          <p:cNvSpPr>
            <a:spLocks noGrp="1"/>
          </p:cNvSpPr>
          <p:nvPr/>
        </p:nvSpPr>
        <p:spPr>
          <a:xfrm>
            <a:off x="1495425" y="1933575"/>
            <a:ext cx="6477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Reproducible environment and TOFU data pipeline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99E69A1-F96C-49B1-A796-056681879B9B}"/>
              </a:ext>
            </a:extLst>
          </p:cNvPr>
          <p:cNvSpPr>
            <a:spLocks noGrp="1"/>
          </p:cNvSpPr>
          <p:nvPr/>
        </p:nvSpPr>
        <p:spPr>
          <a:xfrm>
            <a:off x="8324850" y="1933575"/>
            <a:ext cx="23812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F7A45"/>
                </a:solidFill>
              </a:defRPr>
            </a:pPr>
            <a:r>
              <a:rPr sz="1200" b="1">
                <a:solidFill>
                  <a:srgbClr val="1F7A45"/>
                </a:solidFill>
              </a:rPr>
              <a:t>Complete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4522D95-4467-4D54-B1D4-B10078186FF2}"/>
              </a:ext>
            </a:extLst>
          </p:cNvPr>
          <p:cNvSpPr>
            <a:spLocks noGrp="1"/>
          </p:cNvSpPr>
          <p:nvPr/>
        </p:nvSpPr>
        <p:spPr>
          <a:xfrm>
            <a:off x="704850" y="2428875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595E8A-05EE-40E1-9842-D42CF3B1F15A}"/>
              </a:ext>
            </a:extLst>
          </p:cNvPr>
          <p:cNvSpPr>
            <a:spLocks noGrp="1"/>
          </p:cNvSpPr>
          <p:nvPr/>
        </p:nvSpPr>
        <p:spPr>
          <a:xfrm>
            <a:off x="876300" y="25241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F7A45"/>
          </a:solidFill>
          <a:ln w="9525">
            <a:solidFill>
              <a:srgbClr val="1F7A45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303A8DB-3E7E-45C6-9213-9050009D6315}"/>
              </a:ext>
            </a:extLst>
          </p:cNvPr>
          <p:cNvSpPr>
            <a:spLocks noGrp="1"/>
          </p:cNvSpPr>
          <p:nvPr/>
        </p:nvSpPr>
        <p:spPr>
          <a:xfrm>
            <a:off x="876300" y="2533650"/>
            <a:ext cx="4191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408F6C0-04BB-430C-94E1-6419B645F653}"/>
              </a:ext>
            </a:extLst>
          </p:cNvPr>
          <p:cNvSpPr>
            <a:spLocks noGrp="1"/>
          </p:cNvSpPr>
          <p:nvPr/>
        </p:nvSpPr>
        <p:spPr>
          <a:xfrm>
            <a:off x="1495425" y="2514600"/>
            <a:ext cx="6477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Mechanistic depth measurement, validated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58CF553-A2E0-4D8D-899D-F347ABAB7DC1}"/>
              </a:ext>
            </a:extLst>
          </p:cNvPr>
          <p:cNvSpPr>
            <a:spLocks noGrp="1"/>
          </p:cNvSpPr>
          <p:nvPr/>
        </p:nvSpPr>
        <p:spPr>
          <a:xfrm>
            <a:off x="8324850" y="2514600"/>
            <a:ext cx="23812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F7A45"/>
                </a:solidFill>
              </a:defRPr>
            </a:pPr>
            <a:r>
              <a:rPr sz="1200" b="1">
                <a:solidFill>
                  <a:srgbClr val="1F7A45"/>
                </a:solidFill>
              </a:rPr>
              <a:t>Complete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F67926E-9F79-46B8-A072-48FC365C058A}"/>
              </a:ext>
            </a:extLst>
          </p:cNvPr>
          <p:cNvSpPr>
            <a:spLocks noGrp="1"/>
          </p:cNvSpPr>
          <p:nvPr/>
        </p:nvSpPr>
        <p:spPr>
          <a:xfrm>
            <a:off x="704850" y="300990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D909042-887A-4B34-918B-9149F9604DA1}"/>
              </a:ext>
            </a:extLst>
          </p:cNvPr>
          <p:cNvSpPr>
            <a:spLocks noGrp="1"/>
          </p:cNvSpPr>
          <p:nvPr/>
        </p:nvSpPr>
        <p:spPr>
          <a:xfrm>
            <a:off x="876300" y="3105150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B76E00"/>
          </a:solidFill>
          <a:ln w="9525">
            <a:solidFill>
              <a:srgbClr val="B76E00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8FDCF429-DEC3-408E-8A8F-34FF9A915DEC}"/>
              </a:ext>
            </a:extLst>
          </p:cNvPr>
          <p:cNvSpPr>
            <a:spLocks noGrp="1"/>
          </p:cNvSpPr>
          <p:nvPr/>
        </p:nvSpPr>
        <p:spPr>
          <a:xfrm>
            <a:off x="876300" y="3114675"/>
            <a:ext cx="4191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AD7ED48-FD8D-4470-B3E7-A2FB15CD4AE2}"/>
              </a:ext>
            </a:extLst>
          </p:cNvPr>
          <p:cNvSpPr>
            <a:spLocks noGrp="1"/>
          </p:cNvSpPr>
          <p:nvPr/>
        </p:nvSpPr>
        <p:spPr>
          <a:xfrm>
            <a:off x="1495425" y="3095625"/>
            <a:ext cx="6477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Breadth measurement calibrated to references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2A31BCF-8598-4BA1-BDB7-D901C916D288}"/>
              </a:ext>
            </a:extLst>
          </p:cNvPr>
          <p:cNvSpPr>
            <a:spLocks noGrp="1"/>
          </p:cNvSpPr>
          <p:nvPr/>
        </p:nvSpPr>
        <p:spPr>
          <a:xfrm>
            <a:off x="8324850" y="3095625"/>
            <a:ext cx="23812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B76E00"/>
                </a:solidFill>
              </a:defRPr>
            </a:pPr>
            <a:r>
              <a:rPr sz="1200" b="1">
                <a:solidFill>
                  <a:srgbClr val="B76E00"/>
                </a:solidFill>
              </a:rPr>
              <a:t>Partial — B0, B1, R done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6DD42A5-1A4C-42ED-8BDF-282F3D45C348}"/>
              </a:ext>
            </a:extLst>
          </p:cNvPr>
          <p:cNvSpPr>
            <a:spLocks noGrp="1"/>
          </p:cNvSpPr>
          <p:nvPr/>
        </p:nvSpPr>
        <p:spPr>
          <a:xfrm>
            <a:off x="704850" y="3590925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6F050D59-A103-48D1-A2E2-1DF155A692EA}"/>
              </a:ext>
            </a:extLst>
          </p:cNvPr>
          <p:cNvSpPr>
            <a:spLocks noGrp="1"/>
          </p:cNvSpPr>
          <p:nvPr/>
        </p:nvSpPr>
        <p:spPr>
          <a:xfrm>
            <a:off x="876300" y="368617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F7A45"/>
          </a:solidFill>
          <a:ln w="9525">
            <a:solidFill>
              <a:srgbClr val="1F7A45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59BE40A-29D3-47C5-BFC8-755B24308380}"/>
              </a:ext>
            </a:extLst>
          </p:cNvPr>
          <p:cNvSpPr>
            <a:spLocks noGrp="1"/>
          </p:cNvSpPr>
          <p:nvPr/>
        </p:nvSpPr>
        <p:spPr>
          <a:xfrm>
            <a:off x="876300" y="3695700"/>
            <a:ext cx="4191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2B42A13F-6923-4C78-82BD-0C6875FC5702}"/>
              </a:ext>
            </a:extLst>
          </p:cNvPr>
          <p:cNvSpPr>
            <a:spLocks noGrp="1"/>
          </p:cNvSpPr>
          <p:nvPr/>
        </p:nvSpPr>
        <p:spPr>
          <a:xfrm>
            <a:off x="1495425" y="3676650"/>
            <a:ext cx="6477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Unlearning methods with collapse stopping rule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78595E3-5F38-4447-AD53-9E56A5E99895}"/>
              </a:ext>
            </a:extLst>
          </p:cNvPr>
          <p:cNvSpPr>
            <a:spLocks noGrp="1"/>
          </p:cNvSpPr>
          <p:nvPr/>
        </p:nvSpPr>
        <p:spPr>
          <a:xfrm>
            <a:off x="8324850" y="3676650"/>
            <a:ext cx="23812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F7A45"/>
                </a:solidFill>
              </a:defRPr>
            </a:pPr>
            <a:r>
              <a:rPr sz="1200" b="1">
                <a:solidFill>
                  <a:srgbClr val="1F7A45"/>
                </a:solidFill>
              </a:rPr>
              <a:t>Complete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F745DBFD-AC1E-48B4-93AE-4C4CB9944BA3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FA7051A-5203-44D7-A13C-19A381E222EE}"/>
              </a:ext>
            </a:extLst>
          </p:cNvPr>
          <p:cNvSpPr>
            <a:spLocks noGrp="1"/>
          </p:cNvSpPr>
          <p:nvPr/>
        </p:nvSpPr>
        <p:spPr>
          <a:xfrm>
            <a:off x="876300" y="4267200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B76E00"/>
          </a:solidFill>
          <a:ln w="9525">
            <a:solidFill>
              <a:srgbClr val="B76E00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B66FF3D-D203-4CB3-9923-A0DC51AD2CFF}"/>
              </a:ext>
            </a:extLst>
          </p:cNvPr>
          <p:cNvSpPr>
            <a:spLocks noGrp="1"/>
          </p:cNvSpPr>
          <p:nvPr/>
        </p:nvSpPr>
        <p:spPr>
          <a:xfrm>
            <a:off x="876300" y="4276725"/>
            <a:ext cx="4191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O5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ADC67967-6E51-46A3-B508-0304206E21B0}"/>
              </a:ext>
            </a:extLst>
          </p:cNvPr>
          <p:cNvSpPr>
            <a:spLocks noGrp="1"/>
          </p:cNvSpPr>
          <p:nvPr/>
        </p:nvSpPr>
        <p:spPr>
          <a:xfrm>
            <a:off x="1495425" y="4257675"/>
            <a:ext cx="6477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Traverse the depth-breadth plane by extrapolation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F2D2F23-BFD1-43AE-BC0E-3F24F57D7453}"/>
              </a:ext>
            </a:extLst>
          </p:cNvPr>
          <p:cNvSpPr>
            <a:spLocks noGrp="1"/>
          </p:cNvSpPr>
          <p:nvPr/>
        </p:nvSpPr>
        <p:spPr>
          <a:xfrm>
            <a:off x="8324850" y="4257675"/>
            <a:ext cx="23812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B76E00"/>
                </a:solidFill>
              </a:defRPr>
            </a:pPr>
            <a:r>
              <a:rPr sz="1200" b="1">
                <a:solidFill>
                  <a:srgbClr val="B76E00"/>
                </a:solidFill>
              </a:rPr>
              <a:t>First trajectory obtained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9050D2D-8682-4283-9899-815758ADD820}"/>
              </a:ext>
            </a:extLst>
          </p:cNvPr>
          <p:cNvSpPr>
            <a:spLocks noGrp="1"/>
          </p:cNvSpPr>
          <p:nvPr/>
        </p:nvSpPr>
        <p:spPr>
          <a:xfrm>
            <a:off x="704850" y="4752975"/>
            <a:ext cx="10287000" cy="457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BBAF259-D5B5-4420-8727-A120BC83EB13}"/>
              </a:ext>
            </a:extLst>
          </p:cNvPr>
          <p:cNvSpPr>
            <a:spLocks noGrp="1"/>
          </p:cNvSpPr>
          <p:nvPr/>
        </p:nvSpPr>
        <p:spPr>
          <a:xfrm>
            <a:off x="876300" y="4848225"/>
            <a:ext cx="419100" cy="26670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9525">
            <a:solidFill>
              <a:srgbClr val="174B96"/>
            </a:solidFill>
            <a:prstDash val="solid"/>
          </a:ln>
        </p:spPr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01B52F2-7A3C-4826-A4DE-6F57CA583D8D}"/>
              </a:ext>
            </a:extLst>
          </p:cNvPr>
          <p:cNvSpPr>
            <a:spLocks noGrp="1"/>
          </p:cNvSpPr>
          <p:nvPr/>
        </p:nvSpPr>
        <p:spPr>
          <a:xfrm>
            <a:off x="876300" y="4857750"/>
            <a:ext cx="4191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O6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F08DD29-6E2C-45FF-BDBE-BEE2B6BD615A}"/>
              </a:ext>
            </a:extLst>
          </p:cNvPr>
          <p:cNvSpPr>
            <a:spLocks noGrp="1"/>
          </p:cNvSpPr>
          <p:nvPr/>
        </p:nvSpPr>
        <p:spPr>
          <a:xfrm>
            <a:off x="1495425" y="4838700"/>
            <a:ext cx="6477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Report relationships across methods, seeds and scales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15B6871D-9A0E-4252-BC4D-EDF0BD71668C}"/>
              </a:ext>
            </a:extLst>
          </p:cNvPr>
          <p:cNvSpPr>
            <a:spLocks noGrp="1"/>
          </p:cNvSpPr>
          <p:nvPr/>
        </p:nvSpPr>
        <p:spPr>
          <a:xfrm>
            <a:off x="8324850" y="4838700"/>
            <a:ext cx="23812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In progress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EA46676A-FF8F-4C04-A14A-017A41E0A15D}"/>
              </a:ext>
            </a:extLst>
          </p:cNvPr>
          <p:cNvSpPr>
            <a:spLocks noGrp="1"/>
          </p:cNvSpPr>
          <p:nvPr/>
        </p:nvSpPr>
        <p:spPr>
          <a:xfrm>
            <a:off x="704850" y="5472113"/>
            <a:ext cx="10287000" cy="685800"/>
          </a:xfrm>
          <a:prstGeom prst="roundRect">
            <a:avLst>
              <a:gd name="adj" fmla="val 11111"/>
            </a:avLst>
          </a:prstGeom>
          <a:solidFill>
            <a:srgbClr val="FFF8E8"/>
          </a:solidFill>
          <a:ln w="9525">
            <a:solidFill>
              <a:srgbClr val="F2D28B"/>
            </a:solidFill>
            <a:prstDash val="solid"/>
          </a:ln>
        </p:spPr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5DB8B047-5A1A-4B88-AC37-E69BAF5B0E61}"/>
              </a:ext>
            </a:extLst>
          </p:cNvPr>
          <p:cNvSpPr>
            <a:spLocks noGrp="1"/>
          </p:cNvSpPr>
          <p:nvPr/>
        </p:nvSpPr>
        <p:spPr>
          <a:xfrm>
            <a:off x="895350" y="5629275"/>
            <a:ext cx="7620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B76E00"/>
                </a:solidFill>
              </a:defRPr>
            </a:pPr>
            <a:r>
              <a:rPr sz="1125" b="1">
                <a:solidFill>
                  <a:srgbClr val="B76E00"/>
                </a:solidFill>
              </a:rPr>
              <a:t>O3 note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0F3F094-DC10-4D9B-8B60-F3DB7FCB5956}"/>
              </a:ext>
            </a:extLst>
          </p:cNvPr>
          <p:cNvSpPr>
            <a:spLocks noGrp="1"/>
          </p:cNvSpPr>
          <p:nvPr/>
        </p:nvSpPr>
        <p:spPr>
          <a:xfrm>
            <a:off x="1762125" y="5581650"/>
            <a:ext cx="8905875" cy="304800"/>
          </a:xfrm>
          <a:prstGeom prst="roundRect">
            <a:avLst>
              <a:gd name="adj" fmla="val 25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200" b="0" dirty="0">
                <a:solidFill>
                  <a:srgbClr val="14213D"/>
                </a:solidFill>
              </a:rPr>
              <a:t>The six-tier ladder is designed (B0–B4 + R). Only B0 exact, B1 paraphrase and R retain control are populated; B2–B4 remain future work (T3).</a:t>
            </a:r>
          </a:p>
        </p:txBody>
      </p:sp>
    </p:spTree>
    <p:extLst>
      <p:ext uri="{BB962C8B-B14F-4D97-AF65-F5344CB8AC3E}">
        <p14:creationId xmlns:p14="http://schemas.microsoft.com/office/powerpoint/2010/main" val="1525602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B3EC34EE-3F06-42F7-8E8F-1A04905AB129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PROJECT ANALYSIS &amp;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D5D0CEB-EB07-4C97-B34C-9ADEF71830A2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Literature establishes the measurement gap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208ECB1-66A9-403C-92DB-DBB628EA9313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04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91E913-4A69-495C-8654-DD1A023CBC9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3EDD6D8-270D-4297-A3ED-2F33D4B84855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Project Analysis &amp;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607E929-E6E8-4B92-9FFD-88C14F44D25F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8F4973D-E588-4594-BE6A-16F2BE8B7A38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6858000" cy="238125"/>
          </a:xfrm>
          <a:prstGeom prst="roundRect">
            <a:avLst>
              <a:gd name="adj" fmla="val 32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350" b="0">
                <a:solidFill>
                  <a:srgbClr val="5B6780"/>
                </a:solidFill>
              </a:rPr>
              <a:t>Six of the 26 reviewed papers directly shaped this phase.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1791D2A7-DB89-4E60-90CD-353CEF8D281D}"/>
              </a:ext>
            </a:extLst>
          </p:cNvPr>
          <p:cNvSpPr>
            <a:spLocks noGrp="1"/>
          </p:cNvSpPr>
          <p:nvPr/>
        </p:nvSpPr>
        <p:spPr>
          <a:xfrm>
            <a:off x="781050" y="1752600"/>
            <a:ext cx="26670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Paper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5AB0BCC-374F-4DFB-B278-42A1EB2301D7}"/>
              </a:ext>
            </a:extLst>
          </p:cNvPr>
          <p:cNvSpPr>
            <a:spLocks noGrp="1"/>
          </p:cNvSpPr>
          <p:nvPr/>
        </p:nvSpPr>
        <p:spPr>
          <a:xfrm>
            <a:off x="3762375" y="1752600"/>
            <a:ext cx="3476625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Contribution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C17DDDA-46A1-472A-BFA7-F4B4A155C8EB}"/>
              </a:ext>
            </a:extLst>
          </p:cNvPr>
          <p:cNvSpPr>
            <a:spLocks noGrp="1"/>
          </p:cNvSpPr>
          <p:nvPr/>
        </p:nvSpPr>
        <p:spPr>
          <a:xfrm>
            <a:off x="7572375" y="1752600"/>
            <a:ext cx="32385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Role in DeepErase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EB978EA-A2F5-465A-8ABE-EFD9BB80701E}"/>
              </a:ext>
            </a:extLst>
          </p:cNvPr>
          <p:cNvSpPr>
            <a:spLocks noGrp="1"/>
          </p:cNvSpPr>
          <p:nvPr/>
        </p:nvSpPr>
        <p:spPr>
          <a:xfrm>
            <a:off x="704850" y="2009775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A184F03-DBE0-441F-BCA9-5EBAF1B3B49C}"/>
              </a:ext>
            </a:extLst>
          </p:cNvPr>
          <p:cNvSpPr>
            <a:spLocks noGrp="1"/>
          </p:cNvSpPr>
          <p:nvPr/>
        </p:nvSpPr>
        <p:spPr>
          <a:xfrm>
            <a:off x="800100" y="2085975"/>
            <a:ext cx="2714625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Maini et al., 2024 (TOFU)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6AF412E-6598-4CE2-B107-52420C6938BC}"/>
              </a:ext>
            </a:extLst>
          </p:cNvPr>
          <p:cNvSpPr>
            <a:spLocks noGrp="1"/>
          </p:cNvSpPr>
          <p:nvPr/>
        </p:nvSpPr>
        <p:spPr>
          <a:xfrm>
            <a:off x="3762375" y="2085975"/>
            <a:ext cx="3476625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Fictitious-author benchmark; matched Full / Retain pairs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0D6F2D-9181-4800-8A96-738C9EFB4FA2}"/>
              </a:ext>
            </a:extLst>
          </p:cNvPr>
          <p:cNvSpPr>
            <a:spLocks noGrp="1"/>
          </p:cNvSpPr>
          <p:nvPr/>
        </p:nvSpPr>
        <p:spPr>
          <a:xfrm>
            <a:off x="7572375" y="2085975"/>
            <a:ext cx="3238500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Models, B0 questions and retain control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77E96C5-30A1-4BDF-B1BF-D82020E4B2D7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820FC3-64FD-4797-8788-EEA66A6DFF87}"/>
              </a:ext>
            </a:extLst>
          </p:cNvPr>
          <p:cNvSpPr>
            <a:spLocks noGrp="1"/>
          </p:cNvSpPr>
          <p:nvPr/>
        </p:nvSpPr>
        <p:spPr>
          <a:xfrm>
            <a:off x="800100" y="2705100"/>
            <a:ext cx="2714625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Lee, Kim &amp; Jo, 2026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0AB987-5BC6-4F44-8FA6-5D72D2F044F5}"/>
              </a:ext>
            </a:extLst>
          </p:cNvPr>
          <p:cNvSpPr>
            <a:spLocks noGrp="1"/>
          </p:cNvSpPr>
          <p:nvPr/>
        </p:nvSpPr>
        <p:spPr>
          <a:xfrm>
            <a:off x="3762375" y="2705100"/>
            <a:ext cx="3476625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Two-stage activation-patching depth score (UDS)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46973D59-D642-4782-AC27-EF16C2AEB493}"/>
              </a:ext>
            </a:extLst>
          </p:cNvPr>
          <p:cNvSpPr>
            <a:spLocks noGrp="1"/>
          </p:cNvSpPr>
          <p:nvPr/>
        </p:nvSpPr>
        <p:spPr>
          <a:xfrm>
            <a:off x="7572375" y="2705100"/>
            <a:ext cx="3238500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Depth axis; re-implemented and validated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FAF78C8-042C-42E6-BB0E-38FCEAB44BEC}"/>
              </a:ext>
            </a:extLst>
          </p:cNvPr>
          <p:cNvSpPr>
            <a:spLocks noGrp="1"/>
          </p:cNvSpPr>
          <p:nvPr/>
        </p:nvSpPr>
        <p:spPr>
          <a:xfrm>
            <a:off x="704850" y="3248025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14BC7BD-D97D-4D7D-A456-FF7D1CD3B444}"/>
              </a:ext>
            </a:extLst>
          </p:cNvPr>
          <p:cNvSpPr>
            <a:spLocks noGrp="1"/>
          </p:cNvSpPr>
          <p:nvPr/>
        </p:nvSpPr>
        <p:spPr>
          <a:xfrm>
            <a:off x="800100" y="3324225"/>
            <a:ext cx="2714625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Wang et al., 2025 (UIPE)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3C2805E-21FF-4B3B-B4EF-51EB62CF99FD}"/>
              </a:ext>
            </a:extLst>
          </p:cNvPr>
          <p:cNvSpPr>
            <a:spLocks noGrp="1"/>
          </p:cNvSpPr>
          <p:nvPr/>
        </p:nvSpPr>
        <p:spPr>
          <a:xfrm>
            <a:off x="3762375" y="3324225"/>
            <a:ext cx="3476625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Extrapolates the unlearning update vector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31872B2C-E707-4708-8DC7-EAC8F3364C4A}"/>
              </a:ext>
            </a:extLst>
          </p:cNvPr>
          <p:cNvSpPr>
            <a:spLocks noGrp="1"/>
          </p:cNvSpPr>
          <p:nvPr/>
        </p:nvSpPr>
        <p:spPr>
          <a:xfrm>
            <a:off x="7572375" y="3324225"/>
            <a:ext cx="3238500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Measurement dial, not a training step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C6EE73F-9D9A-44BF-9CB2-A15CEEAE7442}"/>
              </a:ext>
            </a:extLst>
          </p:cNvPr>
          <p:cNvSpPr>
            <a:spLocks noGrp="1"/>
          </p:cNvSpPr>
          <p:nvPr/>
        </p:nvSpPr>
        <p:spPr>
          <a:xfrm>
            <a:off x="704850" y="3867150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CBDC332-7E08-4BEF-8856-1B7F972EA466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2714625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Deeb &amp; Roger, 2024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F940A85-4AA1-4300-BED5-BECB76798321}"/>
              </a:ext>
            </a:extLst>
          </p:cNvPr>
          <p:cNvSpPr>
            <a:spLocks noGrp="1"/>
          </p:cNvSpPr>
          <p:nvPr/>
        </p:nvSpPr>
        <p:spPr>
          <a:xfrm>
            <a:off x="3762375" y="3943350"/>
            <a:ext cx="3476625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Unlearned knowledge can remain in weights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3C1D592-C4E2-4C55-9AC6-C9FEEB23CAA1}"/>
              </a:ext>
            </a:extLst>
          </p:cNvPr>
          <p:cNvSpPr>
            <a:spLocks noGrp="1"/>
          </p:cNvSpPr>
          <p:nvPr/>
        </p:nvSpPr>
        <p:spPr>
          <a:xfrm>
            <a:off x="7572375" y="3943350"/>
            <a:ext cx="3238500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Motivates depth vs breadth hypothesis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6715682-371B-4FD0-B1B3-9DD2056EC4F5}"/>
              </a:ext>
            </a:extLst>
          </p:cNvPr>
          <p:cNvSpPr>
            <a:spLocks noGrp="1"/>
          </p:cNvSpPr>
          <p:nvPr/>
        </p:nvSpPr>
        <p:spPr>
          <a:xfrm>
            <a:off x="704850" y="4486275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043AA01-A310-4C10-AC55-CA89901DAAD4}"/>
              </a:ext>
            </a:extLst>
          </p:cNvPr>
          <p:cNvSpPr>
            <a:spLocks noGrp="1"/>
          </p:cNvSpPr>
          <p:nvPr/>
        </p:nvSpPr>
        <p:spPr>
          <a:xfrm>
            <a:off x="800100" y="4562475"/>
            <a:ext cx="2714625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Hong et al., 2025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31298AE-3874-4599-A48E-F4EE824D9C26}"/>
              </a:ext>
            </a:extLst>
          </p:cNvPr>
          <p:cNvSpPr>
            <a:spLocks noGrp="1"/>
          </p:cNvSpPr>
          <p:nvPr/>
        </p:nvSpPr>
        <p:spPr>
          <a:xfrm>
            <a:off x="3762375" y="4562475"/>
            <a:ext cx="3476625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Internal fact traces can persist after suppression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6CD5329-74AC-451D-B370-4BD4FF363091}"/>
              </a:ext>
            </a:extLst>
          </p:cNvPr>
          <p:cNvSpPr>
            <a:spLocks noGrp="1"/>
          </p:cNvSpPr>
          <p:nvPr/>
        </p:nvSpPr>
        <p:spPr>
          <a:xfrm>
            <a:off x="7572375" y="4562475"/>
            <a:ext cx="3238500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Further evidence for the hypothesis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7A39F81-B11D-4DDB-9843-2DEEAF8ED587}"/>
              </a:ext>
            </a:extLst>
          </p:cNvPr>
          <p:cNvSpPr>
            <a:spLocks noGrp="1"/>
          </p:cNvSpPr>
          <p:nvPr/>
        </p:nvSpPr>
        <p:spPr>
          <a:xfrm>
            <a:off x="704850" y="5105400"/>
            <a:ext cx="10287000" cy="514350"/>
          </a:xfrm>
          <a:prstGeom prst="roundRect">
            <a:avLst>
              <a:gd name="adj" fmla="val 14815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0D9838E7-159B-4665-A4D1-8A8D585AB356}"/>
              </a:ext>
            </a:extLst>
          </p:cNvPr>
          <p:cNvSpPr>
            <a:spLocks noGrp="1"/>
          </p:cNvSpPr>
          <p:nvPr/>
        </p:nvSpPr>
        <p:spPr>
          <a:xfrm>
            <a:off x="800100" y="5181600"/>
            <a:ext cx="2714625" cy="342900"/>
          </a:xfrm>
          <a:prstGeom prst="roundRect">
            <a:avLst>
              <a:gd name="adj" fmla="val 22222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Thaker et al., 2025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3EAB336A-C13D-41FC-8D71-0DDD4C8B842B}"/>
              </a:ext>
            </a:extLst>
          </p:cNvPr>
          <p:cNvSpPr>
            <a:spLocks noGrp="1"/>
          </p:cNvSpPr>
          <p:nvPr/>
        </p:nvSpPr>
        <p:spPr>
          <a:xfrm>
            <a:off x="3762375" y="5181600"/>
            <a:ext cx="3476625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Benchmarks are weak measures of removal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95CB086-6A63-4BDF-A750-33F357242F45}"/>
              </a:ext>
            </a:extLst>
          </p:cNvPr>
          <p:cNvSpPr>
            <a:spLocks noGrp="1"/>
          </p:cNvSpPr>
          <p:nvPr/>
        </p:nvSpPr>
        <p:spPr>
          <a:xfrm>
            <a:off x="7572375" y="5181600"/>
            <a:ext cx="3238500" cy="361950"/>
          </a:xfrm>
          <a:prstGeom prst="roundRect">
            <a:avLst>
              <a:gd name="adj" fmla="val 2105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Field-level gap addressed here</a:t>
            </a:r>
          </a:p>
        </p:txBody>
      </p:sp>
    </p:spTree>
    <p:extLst>
      <p:ext uri="{BB962C8B-B14F-4D97-AF65-F5344CB8AC3E}">
        <p14:creationId xmlns:p14="http://schemas.microsoft.com/office/powerpoint/2010/main" val="366406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57CFF36-BFDA-471A-8679-4EC5F76E270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SYSTEM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1C0DEA3-57CF-4EF8-AFB7-AF08A2807074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Three views make the measurement system inspectable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F308167-0576-4D1F-8940-40DB3DA0B50C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05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44CA0D-8C69-4FBC-93D9-90D83AC867E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15F7EAD-77F2-4599-B5C5-B3FC29FC2F8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System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C4DBCA6-BB1D-4433-ACA6-E88ED2BB3954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7250D92-2FB7-408B-8CB4-BF97C5F14B3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350" b="0">
                <a:solidFill>
                  <a:srgbClr val="5B6780"/>
                </a:solidFill>
              </a:rPr>
              <a:t>The use case, class model and checkpoint lifecycle together describe the prototype’s operation, structure and control flow.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9600" y="2433480"/>
            <a:ext cx="3429000" cy="2543489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4362450" y="2304736"/>
            <a:ext cx="3429000" cy="254348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115300" y="2562225"/>
            <a:ext cx="3429000" cy="2286000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D9C0A8-C1CC-4185-809C-04C4D40DCFC0}"/>
              </a:ext>
            </a:extLst>
          </p:cNvPr>
          <p:cNvSpPr>
            <a:spLocks noGrp="1"/>
          </p:cNvSpPr>
          <p:nvPr/>
        </p:nvSpPr>
        <p:spPr>
          <a:xfrm>
            <a:off x="647701" y="5695950"/>
            <a:ext cx="34290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4B96"/>
                </a:solidFill>
              </a:defRPr>
            </a:pPr>
            <a:r>
              <a:rPr sz="1200" b="1" dirty="0">
                <a:solidFill>
                  <a:srgbClr val="174B96"/>
                </a:solidFill>
              </a:rPr>
              <a:t>Use case: researcher to evaluation panel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DDB2E37-AFC0-4AF1-B8A9-F53FBDAA1D8C}"/>
              </a:ext>
            </a:extLst>
          </p:cNvPr>
          <p:cNvSpPr>
            <a:spLocks noGrp="1"/>
          </p:cNvSpPr>
          <p:nvPr/>
        </p:nvSpPr>
        <p:spPr>
          <a:xfrm>
            <a:off x="4362450" y="5705475"/>
            <a:ext cx="34290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4B96"/>
                </a:solidFill>
              </a:defRPr>
            </a:pPr>
            <a:r>
              <a:rPr sz="1200" b="1" dirty="0">
                <a:solidFill>
                  <a:srgbClr val="174B96"/>
                </a:solidFill>
              </a:rPr>
              <a:t>Class diagram: core data and measurement objects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CE5F034-4845-4CB2-918C-61F57EC953A4}"/>
              </a:ext>
            </a:extLst>
          </p:cNvPr>
          <p:cNvSpPr>
            <a:spLocks noGrp="1"/>
          </p:cNvSpPr>
          <p:nvPr/>
        </p:nvSpPr>
        <p:spPr>
          <a:xfrm>
            <a:off x="8191500" y="5610225"/>
            <a:ext cx="34290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4B96"/>
                </a:solidFill>
              </a:defRPr>
            </a:pPr>
            <a:r>
              <a:rPr sz="1200" b="1" dirty="0">
                <a:solidFill>
                  <a:srgbClr val="174B96"/>
                </a:solidFill>
              </a:rPr>
              <a:t>State chart: utility-gated checkpoint selection</a:t>
            </a:r>
          </a:p>
        </p:txBody>
      </p:sp>
    </p:spTree>
    <p:extLst>
      <p:ext uri="{BB962C8B-B14F-4D97-AF65-F5344CB8AC3E}">
        <p14:creationId xmlns:p14="http://schemas.microsoft.com/office/powerpoint/2010/main" val="1594707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29DBFDA-B639-43A8-B273-2076C2E72C2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DETAILED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9719EF9-96D5-4618-82AF-576DD017BA2B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DeepErase is a layered measurement pipeline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DE4DC5-C84E-4E3B-A6F1-B52F22DC914E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06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0792FD-371F-4C5E-A672-1EFBA8C62B5F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E2B844-9A74-4B72-BB00-01FE2201340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Detailed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30421A1-AE2C-4CAF-95FC-20E1CFC58105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3C87D3A-1714-46C4-8C27-2651973AD8B0}"/>
              </a:ext>
            </a:extLst>
          </p:cNvPr>
          <p:cNvSpPr>
            <a:spLocks noGrp="1"/>
          </p:cNvSpPr>
          <p:nvPr/>
        </p:nvSpPr>
        <p:spPr>
          <a:xfrm>
            <a:off x="857250" y="1338262"/>
            <a:ext cx="10477500" cy="257175"/>
          </a:xfrm>
          <a:prstGeom prst="roundRect">
            <a:avLst>
              <a:gd name="adj" fmla="val 2963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400" b="0" dirty="0">
                <a:solidFill>
                  <a:srgbClr val="5B6780"/>
                </a:solidFill>
              </a:rPr>
              <a:t>Data flows from TOFU and tuned checkpoints through unlearning, independent depth/breadth axes, and trajectory analysis.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388294" y="1752600"/>
            <a:ext cx="5415412" cy="43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936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99D3C77-D134-4E0D-9946-8C42D82CD14D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DETAILED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B2746460-24E2-4376-B824-158B19297934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Depth is measured causally inside the model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79F348E-87F9-4D47-8EF5-8630DEA7F28B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07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28C3EA8-F0EF-4CEB-B84F-7F745328F59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93EF85B-8B07-4D84-986E-CFC49E001512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Detailed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F323635C-4A3C-4F13-B554-EBFC18741187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71563" y="1428750"/>
            <a:ext cx="6743700" cy="449580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E515B85-732E-4EBD-8905-4FD2E00C55D0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8575" cy="99060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9525">
            <a:solidFill>
              <a:srgbClr val="174B96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3C1A44D-3DF7-4D49-BE33-32C3679F7CFB}"/>
              </a:ext>
            </a:extLst>
          </p:cNvPr>
          <p:cNvSpPr>
            <a:spLocks noGrp="1"/>
          </p:cNvSpPr>
          <p:nvPr/>
        </p:nvSpPr>
        <p:spPr>
          <a:xfrm>
            <a:off x="8743950" y="1905000"/>
            <a:ext cx="2486025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1. Calibrate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2AE60A-FEB8-488F-8485-3D9AF74056F5}"/>
              </a:ext>
            </a:extLst>
          </p:cNvPr>
          <p:cNvSpPr>
            <a:spLocks noGrp="1"/>
          </p:cNvSpPr>
          <p:nvPr/>
        </p:nvSpPr>
        <p:spPr>
          <a:xfrm>
            <a:off x="8743950" y="2200275"/>
            <a:ext cx="2486025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Stage 1 measures how much each layer carries the fact using retain90 → full patching.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7432B7-6C70-482C-8F8D-7E07B144C738}"/>
              </a:ext>
            </a:extLst>
          </p:cNvPr>
          <p:cNvSpPr>
            <a:spLocks noGrp="1"/>
          </p:cNvSpPr>
          <p:nvPr/>
        </p:nvSpPr>
        <p:spPr>
          <a:xfrm>
            <a:off x="8572500" y="3038475"/>
            <a:ext cx="28575" cy="990600"/>
          </a:xfrm>
          <a:prstGeom prst="roundRect">
            <a:avLst>
              <a:gd name="adj" fmla="val 50000"/>
            </a:avLst>
          </a:prstGeom>
          <a:solidFill>
            <a:srgbClr val="B42318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E7F7D7-5C80-412E-A920-904C4A85D8AE}"/>
              </a:ext>
            </a:extLst>
          </p:cNvPr>
          <p:cNvSpPr>
            <a:spLocks noGrp="1"/>
          </p:cNvSpPr>
          <p:nvPr/>
        </p:nvSpPr>
        <p:spPr>
          <a:xfrm>
            <a:off x="8743950" y="3133725"/>
            <a:ext cx="2486025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B42318"/>
                </a:solidFill>
              </a:defRPr>
            </a:pPr>
            <a:r>
              <a:rPr sz="1400" b="1">
                <a:solidFill>
                  <a:srgbClr val="B42318"/>
                </a:solidFill>
              </a:rPr>
              <a:t>2. Measure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6CBE97F-1F15-426E-BC72-4BE0C32EBD97}"/>
              </a:ext>
            </a:extLst>
          </p:cNvPr>
          <p:cNvSpPr>
            <a:spLocks noGrp="1"/>
          </p:cNvSpPr>
          <p:nvPr/>
        </p:nvSpPr>
        <p:spPr>
          <a:xfrm>
            <a:off x="8743950" y="3429000"/>
            <a:ext cx="2486025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Stage 2 compares the unlearned candidate against full at the same entity span.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6E92535-47C2-4BAA-8A56-2B91EF31617C}"/>
              </a:ext>
            </a:extLst>
          </p:cNvPr>
          <p:cNvSpPr>
            <a:spLocks noGrp="1"/>
          </p:cNvSpPr>
          <p:nvPr/>
        </p:nvSpPr>
        <p:spPr>
          <a:xfrm>
            <a:off x="8572500" y="4267200"/>
            <a:ext cx="28575" cy="990600"/>
          </a:xfrm>
          <a:prstGeom prst="roundRect">
            <a:avLst>
              <a:gd name="adj" fmla="val 50000"/>
            </a:avLst>
          </a:prstGeom>
          <a:solidFill>
            <a:srgbClr val="1F7A45"/>
          </a:solidFill>
          <a:ln w="9525">
            <a:solidFill>
              <a:srgbClr val="1F7A45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5963D63-799C-4737-B578-8B6EB33061DA}"/>
              </a:ext>
            </a:extLst>
          </p:cNvPr>
          <p:cNvSpPr>
            <a:spLocks noGrp="1"/>
          </p:cNvSpPr>
          <p:nvPr/>
        </p:nvSpPr>
        <p:spPr>
          <a:xfrm>
            <a:off x="8743950" y="4362450"/>
            <a:ext cx="2486025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F7A45"/>
                </a:solidFill>
              </a:defRPr>
            </a:pPr>
            <a:r>
              <a:rPr sz="1400" b="1">
                <a:solidFill>
                  <a:srgbClr val="1F7A45"/>
                </a:solidFill>
              </a:rPr>
              <a:t>3. Aggregate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DA21BD3-64E5-4723-9090-ED45090C6024}"/>
              </a:ext>
            </a:extLst>
          </p:cNvPr>
          <p:cNvSpPr>
            <a:spLocks noGrp="1"/>
          </p:cNvSpPr>
          <p:nvPr/>
        </p:nvSpPr>
        <p:spPr>
          <a:xfrm>
            <a:off x="8743950" y="4657725"/>
            <a:ext cx="2486025" cy="552450"/>
          </a:xfrm>
          <a:prstGeom prst="roundRect">
            <a:avLst>
              <a:gd name="adj" fmla="val 1379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Keep KE layers where ΔS₁(ℓ) ≥ τ = 0.05; aggregate LER(ℓ) into UDS.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B13677B-5A76-4A9A-96F7-A1209049A181}"/>
              </a:ext>
            </a:extLst>
          </p:cNvPr>
          <p:cNvSpPr>
            <a:spLocks noGrp="1"/>
          </p:cNvSpPr>
          <p:nvPr/>
        </p:nvSpPr>
        <p:spPr>
          <a:xfrm>
            <a:off x="609600" y="6115050"/>
            <a:ext cx="10287000" cy="238125"/>
          </a:xfrm>
          <a:prstGeom prst="roundRect">
            <a:avLst>
              <a:gd name="adj" fmla="val 32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UDS = 0: knowledge still internally present · UDS = 1: erased as thoroughly as retraining</a:t>
            </a:r>
          </a:p>
        </p:txBody>
      </p:sp>
    </p:spTree>
    <p:extLst>
      <p:ext uri="{BB962C8B-B14F-4D97-AF65-F5344CB8AC3E}">
        <p14:creationId xmlns:p14="http://schemas.microsoft.com/office/powerpoint/2010/main" val="17854284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B984E16-4E1A-4CF4-A837-F0BDB6FE7FA1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DETAILED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FCD11E9-6064-4808-80EE-E6D6DCF4B1C5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Breadth tests whether removal generalises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FCA9DC3-6960-4288-AEBF-81D611A67EE6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08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BAF517-9C32-4E29-86D2-3B2C4266E3D1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BAA19E-05AC-4981-83E1-84E8F755673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Detailed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8E8B11A-6041-4C11-9EFD-9ECAF902BA06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86286" y="1466850"/>
            <a:ext cx="6600825" cy="4400550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6B36AED-5B40-44A0-A520-248A0B5E9141}"/>
              </a:ext>
            </a:extLst>
          </p:cNvPr>
          <p:cNvSpPr>
            <a:spLocks noGrp="1"/>
          </p:cNvSpPr>
          <p:nvPr/>
        </p:nvSpPr>
        <p:spPr>
          <a:xfrm>
            <a:off x="8496300" y="1809750"/>
            <a:ext cx="2381250" cy="238125"/>
          </a:xfrm>
          <a:prstGeom prst="roundRect">
            <a:avLst>
              <a:gd name="adj" fmla="val 32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500" b="1">
                <a:solidFill>
                  <a:srgbClr val="174B96"/>
                </a:solidFill>
              </a:defRPr>
            </a:pPr>
            <a:r>
              <a:rPr sz="1500" b="1">
                <a:solidFill>
                  <a:srgbClr val="174B96"/>
                </a:solidFill>
              </a:rPr>
              <a:t>Probe ladder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1A2CA76-CDF4-48B5-BE8A-E53264FBCDA8}"/>
              </a:ext>
            </a:extLst>
          </p:cNvPr>
          <p:cNvSpPr>
            <a:spLocks noGrp="1"/>
          </p:cNvSpPr>
          <p:nvPr/>
        </p:nvSpPr>
        <p:spPr>
          <a:xfrm>
            <a:off x="8496300" y="2266950"/>
            <a:ext cx="76200" cy="76200"/>
          </a:xfrm>
          <a:prstGeom prst="ellipse">
            <a:avLst/>
          </a:prstGeom>
          <a:solidFill>
            <a:srgbClr val="174B96"/>
          </a:solidFill>
          <a:ln w="9525">
            <a:solidFill>
              <a:srgbClr val="174B96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F930892-35CA-43D2-B4CE-2B224AE7934D}"/>
              </a:ext>
            </a:extLst>
          </p:cNvPr>
          <p:cNvSpPr>
            <a:spLocks noGrp="1"/>
          </p:cNvSpPr>
          <p:nvPr/>
        </p:nvSpPr>
        <p:spPr>
          <a:xfrm>
            <a:off x="8568198" y="2171700"/>
            <a:ext cx="24955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 dirty="0">
                <a:solidFill>
                  <a:srgbClr val="14213D"/>
                </a:solidFill>
              </a:rPr>
              <a:t>B0 exact: the training form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7435B14-6A0A-4226-AC3D-68675F384FEF}"/>
              </a:ext>
            </a:extLst>
          </p:cNvPr>
          <p:cNvSpPr>
            <a:spLocks noGrp="1"/>
          </p:cNvSpPr>
          <p:nvPr/>
        </p:nvSpPr>
        <p:spPr>
          <a:xfrm>
            <a:off x="8496300" y="2724150"/>
            <a:ext cx="76200" cy="76200"/>
          </a:xfrm>
          <a:prstGeom prst="ellipse">
            <a:avLst/>
          </a:prstGeom>
          <a:solidFill>
            <a:srgbClr val="174B96"/>
          </a:solidFill>
          <a:ln w="9525">
            <a:solidFill>
              <a:srgbClr val="174B96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4D47988-38F8-49C2-B19F-42142D4F00D7}"/>
              </a:ext>
            </a:extLst>
          </p:cNvPr>
          <p:cNvSpPr>
            <a:spLocks noGrp="1"/>
          </p:cNvSpPr>
          <p:nvPr/>
        </p:nvSpPr>
        <p:spPr>
          <a:xfrm>
            <a:off x="8610600" y="2706636"/>
            <a:ext cx="24955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B1 paraphrase: same fact, new wording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82D4DBF-F556-449A-BDC6-FA510B65E8E0}"/>
              </a:ext>
            </a:extLst>
          </p:cNvPr>
          <p:cNvSpPr>
            <a:spLocks noGrp="1"/>
          </p:cNvSpPr>
          <p:nvPr/>
        </p:nvSpPr>
        <p:spPr>
          <a:xfrm>
            <a:off x="8496300" y="3181350"/>
            <a:ext cx="76200" cy="76200"/>
          </a:xfrm>
          <a:prstGeom prst="ellipse">
            <a:avLst/>
          </a:prstGeom>
          <a:solidFill>
            <a:srgbClr val="B42318"/>
          </a:solidFill>
          <a:ln w="9525">
            <a:solidFill>
              <a:srgbClr val="B42318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47B65BE-1AC0-4B61-B936-4E2864DE2637}"/>
              </a:ext>
            </a:extLst>
          </p:cNvPr>
          <p:cNvSpPr>
            <a:spLocks noGrp="1"/>
          </p:cNvSpPr>
          <p:nvPr/>
        </p:nvSpPr>
        <p:spPr>
          <a:xfrm>
            <a:off x="8639175" y="3171825"/>
            <a:ext cx="24955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>
                <a:solidFill>
                  <a:srgbClr val="14213D"/>
                </a:solidFill>
              </a:rPr>
              <a:t>R retain control: must remain unchanged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56C179D-A7A5-4B47-83E4-8E9A1F2AF87D}"/>
              </a:ext>
            </a:extLst>
          </p:cNvPr>
          <p:cNvSpPr>
            <a:spLocks noGrp="1"/>
          </p:cNvSpPr>
          <p:nvPr/>
        </p:nvSpPr>
        <p:spPr>
          <a:xfrm>
            <a:off x="8496300" y="3638550"/>
            <a:ext cx="76200" cy="76200"/>
          </a:xfrm>
          <a:prstGeom prst="ellipse">
            <a:avLst/>
          </a:prstGeom>
          <a:solidFill>
            <a:srgbClr val="B76E00"/>
          </a:solidFill>
          <a:ln w="9525">
            <a:solidFill>
              <a:srgbClr val="B76E00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F34355B-856B-46EA-8398-12FEE32D4F7A}"/>
              </a:ext>
            </a:extLst>
          </p:cNvPr>
          <p:cNvSpPr>
            <a:spLocks noGrp="1"/>
          </p:cNvSpPr>
          <p:nvPr/>
        </p:nvSpPr>
        <p:spPr>
          <a:xfrm>
            <a:off x="8639175" y="3514725"/>
            <a:ext cx="249555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0">
                <a:solidFill>
                  <a:srgbClr val="14213D"/>
                </a:solidFill>
              </a:defRPr>
            </a:pPr>
            <a:r>
              <a:rPr sz="1275" b="0" dirty="0">
                <a:solidFill>
                  <a:srgbClr val="14213D"/>
                </a:solidFill>
              </a:rPr>
              <a:t>B2–B4: designed; future work (T3)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7719C0C-5B7E-4CB7-A093-D056B3C1A88C}"/>
              </a:ext>
            </a:extLst>
          </p:cNvPr>
          <p:cNvSpPr>
            <a:spLocks noGrp="1"/>
          </p:cNvSpPr>
          <p:nvPr/>
        </p:nvSpPr>
        <p:spPr>
          <a:xfrm>
            <a:off x="8127234" y="4267200"/>
            <a:ext cx="3131315" cy="932013"/>
          </a:xfrm>
          <a:prstGeom prst="roundRect">
            <a:avLst>
              <a:gd name="adj" fmla="val 8511"/>
            </a:avLst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76097C9-F539-46DA-8955-A93C052D7042}"/>
              </a:ext>
            </a:extLst>
          </p:cNvPr>
          <p:cNvSpPr>
            <a:spLocks noGrp="1"/>
          </p:cNvSpPr>
          <p:nvPr/>
        </p:nvSpPr>
        <p:spPr>
          <a:xfrm>
            <a:off x="8367253" y="4313390"/>
            <a:ext cx="2643647" cy="180974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75" b="1">
                <a:solidFill>
                  <a:srgbClr val="174B96"/>
                </a:solidFill>
              </a:defRPr>
            </a:pPr>
            <a:r>
              <a:rPr sz="1200" b="1" dirty="0">
                <a:solidFill>
                  <a:srgbClr val="174B96"/>
                </a:solidFill>
              </a:rPr>
              <a:t>Calibrated breadth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8D59E00-5D24-4BCC-A839-E52578005B4D}"/>
              </a:ext>
            </a:extLst>
          </p:cNvPr>
          <p:cNvSpPr>
            <a:spLocks noGrp="1"/>
          </p:cNvSpPr>
          <p:nvPr/>
        </p:nvSpPr>
        <p:spPr>
          <a:xfrm>
            <a:off x="8348203" y="4617715"/>
            <a:ext cx="2643647" cy="352899"/>
          </a:xfrm>
          <a:prstGeom prst="roundRect">
            <a:avLst>
              <a:gd name="adj" fmla="val 2051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200" b="0" dirty="0">
                <a:solidFill>
                  <a:srgbClr val="14213D"/>
                </a:solidFill>
              </a:rPr>
              <a:t>(ceiling − leakage) / (ceiling − floor)</a:t>
            </a:r>
          </a:p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200" b="0" dirty="0">
                <a:solidFill>
                  <a:srgbClr val="14213D"/>
                </a:solidFill>
              </a:rPr>
              <a:t>floor = retain90 0.510 · ceiling = full 0.775</a:t>
            </a:r>
          </a:p>
        </p:txBody>
      </p:sp>
    </p:spTree>
    <p:extLst>
      <p:ext uri="{BB962C8B-B14F-4D97-AF65-F5344CB8AC3E}">
        <p14:creationId xmlns:p14="http://schemas.microsoft.com/office/powerpoint/2010/main" val="16394548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6D7A166-8A5D-40E8-B854-9B78CCE0DCA8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DETAILED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4C072D9C-13CA-4A03-BB20-3A60BC454A9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Checkpoint selection protects retained utility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5AD1F2D6-D45D-4796-9A28-47E506386051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09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3B2364C-7C4C-47D3-8654-E5570E83756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2E28D50-E282-431B-92F6-AB92B219B2A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Detailed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14D6393-6315-4832-AD36-57CFFA340DA0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2C1F8F2-D22F-462A-A973-59151B6D06FC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95250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350" b="0">
                <a:solidFill>
                  <a:srgbClr val="5B6780"/>
                </a:solidFill>
              </a:rPr>
              <a:t>Only utility-preserving candidates continue to extrapolation and measurement.</a:t>
            </a: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3167063" y="1657350"/>
            <a:ext cx="5857875" cy="390525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C8A6250-5784-430A-8E30-F170B3107BF1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9C8D98-C908-4C60-BE06-AF589260AFF3}"/>
              </a:ext>
            </a:extLst>
          </p:cNvPr>
          <p:cNvSpPr>
            <a:spLocks noGrp="1"/>
          </p:cNvSpPr>
          <p:nvPr/>
        </p:nvSpPr>
        <p:spPr>
          <a:xfrm>
            <a:off x="781050" y="5857875"/>
            <a:ext cx="30861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1  Evaluate Uₜ and Fₜ at every epoch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2D31142-3B41-42FE-91A8-6B76062C2DAD}"/>
              </a:ext>
            </a:extLst>
          </p:cNvPr>
          <p:cNvSpPr>
            <a:spLocks noGrp="1"/>
          </p:cNvSpPr>
          <p:nvPr/>
        </p:nvSpPr>
        <p:spPr>
          <a:xfrm>
            <a:off x="4381500" y="57531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FFF3F0"/>
          </a:solidFill>
          <a:ln w="9525">
            <a:solidFill>
              <a:srgbClr val="F4B7AC"/>
            </a:solidFill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F929381-628C-4765-AEF5-81F2A99AFFAB}"/>
              </a:ext>
            </a:extLst>
          </p:cNvPr>
          <p:cNvSpPr>
            <a:spLocks noGrp="1"/>
          </p:cNvSpPr>
          <p:nvPr/>
        </p:nvSpPr>
        <p:spPr>
          <a:xfrm>
            <a:off x="4552950" y="5857875"/>
            <a:ext cx="30861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B42318"/>
                </a:solidFill>
              </a:defRPr>
            </a:pPr>
            <a:r>
              <a:rPr sz="1400" b="1">
                <a:solidFill>
                  <a:srgbClr val="B42318"/>
                </a:solidFill>
              </a:rPr>
              <a:t>2  Reject candidates below U ≥ 0.9 · U₀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237FBC2-DE9D-4A73-A529-20FC217D2F0C}"/>
              </a:ext>
            </a:extLst>
          </p:cNvPr>
          <p:cNvSpPr>
            <a:spLocks noGrp="1"/>
          </p:cNvSpPr>
          <p:nvPr/>
        </p:nvSpPr>
        <p:spPr>
          <a:xfrm>
            <a:off x="8153400" y="5753100"/>
            <a:ext cx="3429000" cy="400050"/>
          </a:xfrm>
          <a:prstGeom prst="roundRect">
            <a:avLst>
              <a:gd name="adj" fmla="val 19048"/>
            </a:avLst>
          </a:prstGeom>
          <a:solidFill>
            <a:srgbClr val="ECF8F0"/>
          </a:solidFill>
          <a:ln w="9525">
            <a:solidFill>
              <a:srgbClr val="B7DEC5"/>
            </a:solidFill>
            <a:prstDash val="solid"/>
          </a:ln>
        </p:spPr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DFE5C70-D148-4E61-AFC7-862F2160B257}"/>
              </a:ext>
            </a:extLst>
          </p:cNvPr>
          <p:cNvSpPr>
            <a:spLocks noGrp="1"/>
          </p:cNvSpPr>
          <p:nvPr/>
        </p:nvSpPr>
        <p:spPr>
          <a:xfrm>
            <a:off x="8324850" y="5857875"/>
            <a:ext cx="30861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125" b="1">
                <a:solidFill>
                  <a:srgbClr val="1F7A45"/>
                </a:solidFill>
              </a:defRPr>
            </a:pPr>
            <a:r>
              <a:rPr sz="1400" b="1">
                <a:solidFill>
                  <a:srgbClr val="1F7A45"/>
                </a:solidFill>
              </a:rPr>
              <a:t>3  Select best accepted θun; then sweep α</a:t>
            </a:r>
          </a:p>
        </p:txBody>
      </p:sp>
    </p:spTree>
    <p:extLst>
      <p:ext uri="{BB962C8B-B14F-4D97-AF65-F5344CB8AC3E}">
        <p14:creationId xmlns:p14="http://schemas.microsoft.com/office/powerpoint/2010/main" val="601270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45D600B-2A5B-40F5-8CB7-E5AB3026DB27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DETAILED DESIGN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C800AB1-F487-4326-BDD8-4CBC62BD8DDC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Reproducible tooling and transparent data design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4E81C9E0-E5AB-474F-9819-222995D10198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10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6705B8A-2BDD-4427-8F1A-62047AA53DD9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8AE770-39BE-4A26-BEA1-D832AA80B41F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Detailed Design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2442AA-6A24-4FDF-A95F-80F6827085CE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0A6F678-4B13-4559-9C1A-6AFF2F38C2B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2870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300" b="0">
                <a:solidFill>
                  <a:srgbClr val="5B6780"/>
                </a:solidFill>
              </a:rPr>
              <a:t>The prototype is command-line operated; each run writes a self-describing artefact directory.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E019FC4-E322-497E-B54E-6288E559DEFA}"/>
              </a:ext>
            </a:extLst>
          </p:cNvPr>
          <p:cNvSpPr>
            <a:spLocks noGrp="1"/>
          </p:cNvSpPr>
          <p:nvPr/>
        </p:nvSpPr>
        <p:spPr>
          <a:xfrm>
            <a:off x="609600" y="1924050"/>
            <a:ext cx="5905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249480E-FF5C-4C42-8610-4C946C9D7125}"/>
              </a:ext>
            </a:extLst>
          </p:cNvPr>
          <p:cNvSpPr>
            <a:spLocks noGrp="1"/>
          </p:cNvSpPr>
          <p:nvPr/>
        </p:nvSpPr>
        <p:spPr>
          <a:xfrm>
            <a:off x="781050" y="1990725"/>
            <a:ext cx="1381125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4B96"/>
                </a:solidFill>
              </a:defRPr>
            </a:pPr>
            <a:r>
              <a:rPr sz="1300" b="1">
                <a:solidFill>
                  <a:srgbClr val="174B96"/>
                </a:solidFill>
              </a:rPr>
              <a:t>Language / DL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D921000-5298-414A-B019-C32B13A5AB79}"/>
              </a:ext>
            </a:extLst>
          </p:cNvPr>
          <p:cNvSpPr>
            <a:spLocks noGrp="1"/>
          </p:cNvSpPr>
          <p:nvPr/>
        </p:nvSpPr>
        <p:spPr>
          <a:xfrm>
            <a:off x="2209800" y="1990725"/>
            <a:ext cx="179070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300" b="1">
                <a:solidFill>
                  <a:srgbClr val="14213D"/>
                </a:solidFill>
              </a:rPr>
              <a:t>Python 3.10+ · PyTorch 2.x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3D798A1-9A5A-44A4-8F70-DEB43516DE3D}"/>
              </a:ext>
            </a:extLst>
          </p:cNvPr>
          <p:cNvSpPr>
            <a:spLocks noGrp="1"/>
          </p:cNvSpPr>
          <p:nvPr/>
        </p:nvSpPr>
        <p:spPr>
          <a:xfrm>
            <a:off x="4095750" y="1990725"/>
            <a:ext cx="226695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B6780"/>
                </a:solidFill>
              </a:defRPr>
            </a:pPr>
            <a:r>
              <a:rPr sz="1300" b="0">
                <a:solidFill>
                  <a:srgbClr val="5B6780"/>
                </a:solidFill>
              </a:rPr>
              <a:t>Forward hooks for activation capture and patching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4C60A07-6607-40E5-B6CE-C204C3ED4542}"/>
              </a:ext>
            </a:extLst>
          </p:cNvPr>
          <p:cNvSpPr>
            <a:spLocks noGrp="1"/>
          </p:cNvSpPr>
          <p:nvPr/>
        </p:nvSpPr>
        <p:spPr>
          <a:xfrm>
            <a:off x="609600" y="2562225"/>
            <a:ext cx="5905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1210E0D-E704-4A0F-9628-34318B990EEC}"/>
              </a:ext>
            </a:extLst>
          </p:cNvPr>
          <p:cNvSpPr>
            <a:spLocks noGrp="1"/>
          </p:cNvSpPr>
          <p:nvPr/>
        </p:nvSpPr>
        <p:spPr>
          <a:xfrm>
            <a:off x="781050" y="2628900"/>
            <a:ext cx="1381125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4B96"/>
                </a:solidFill>
              </a:defRPr>
            </a:pPr>
            <a:r>
              <a:rPr sz="1300" b="1">
                <a:solidFill>
                  <a:srgbClr val="174B96"/>
                </a:solidFill>
              </a:rPr>
              <a:t>Models /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05A18BA-C109-45CD-8A65-F8C993D7B060}"/>
              </a:ext>
            </a:extLst>
          </p:cNvPr>
          <p:cNvSpPr>
            <a:spLocks noGrp="1"/>
          </p:cNvSpPr>
          <p:nvPr/>
        </p:nvSpPr>
        <p:spPr>
          <a:xfrm>
            <a:off x="2209800" y="2628900"/>
            <a:ext cx="179070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300" b="1">
                <a:solidFill>
                  <a:srgbClr val="14213D"/>
                </a:solidFill>
              </a:rPr>
              <a:t>HF Transformers · HF Datasets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7585EE2-0C88-4CBD-A8A7-AB54131CB755}"/>
              </a:ext>
            </a:extLst>
          </p:cNvPr>
          <p:cNvSpPr>
            <a:spLocks noGrp="1"/>
          </p:cNvSpPr>
          <p:nvPr/>
        </p:nvSpPr>
        <p:spPr>
          <a:xfrm>
            <a:off x="4095750" y="2628900"/>
            <a:ext cx="226695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B6780"/>
                </a:solidFill>
              </a:defRPr>
            </a:pPr>
            <a:r>
              <a:rPr sz="1300" b="0">
                <a:solidFill>
                  <a:srgbClr val="5B6780"/>
                </a:solidFill>
              </a:rPr>
              <a:t>Llama-3.2 / TOFU-tuned checkpoints and splits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F67BAD8-E872-4862-BF6F-8B74E019EB0A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5905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115B319-68C8-4279-B307-24F1A93E2B6F}"/>
              </a:ext>
            </a:extLst>
          </p:cNvPr>
          <p:cNvSpPr>
            <a:spLocks noGrp="1"/>
          </p:cNvSpPr>
          <p:nvPr/>
        </p:nvSpPr>
        <p:spPr>
          <a:xfrm>
            <a:off x="781050" y="3267075"/>
            <a:ext cx="1381125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4B96"/>
                </a:solidFill>
              </a:defRPr>
            </a:pPr>
            <a:r>
              <a:rPr sz="1300" b="1">
                <a:solidFill>
                  <a:srgbClr val="174B96"/>
                </a:solidFill>
              </a:rPr>
              <a:t>Numerics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FFD21D53-E3B1-4056-B8DF-3BB9B583ECDE}"/>
              </a:ext>
            </a:extLst>
          </p:cNvPr>
          <p:cNvSpPr>
            <a:spLocks noGrp="1"/>
          </p:cNvSpPr>
          <p:nvPr/>
        </p:nvSpPr>
        <p:spPr>
          <a:xfrm>
            <a:off x="2209800" y="3267075"/>
            <a:ext cx="179070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300" b="1">
                <a:solidFill>
                  <a:srgbClr val="14213D"/>
                </a:solidFill>
              </a:rPr>
              <a:t>NumPy · SciPy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16382A6-0833-4C2C-B9CD-7831667DD268}"/>
              </a:ext>
            </a:extLst>
          </p:cNvPr>
          <p:cNvSpPr>
            <a:spLocks noGrp="1"/>
          </p:cNvSpPr>
          <p:nvPr/>
        </p:nvSpPr>
        <p:spPr>
          <a:xfrm>
            <a:off x="4095750" y="3267075"/>
            <a:ext cx="226695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B6780"/>
                </a:solidFill>
              </a:defRPr>
            </a:pPr>
            <a:r>
              <a:rPr sz="1300" b="0">
                <a:solidFill>
                  <a:srgbClr val="5B6780"/>
                </a:solidFill>
              </a:rPr>
              <a:t>Array operations and Spearman rank correlation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F2EA732-B965-4CD9-BBF1-13BA826FB8AD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5905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02FA1A-5875-4687-9925-99CDE0DB1104}"/>
              </a:ext>
            </a:extLst>
          </p:cNvPr>
          <p:cNvSpPr>
            <a:spLocks noGrp="1"/>
          </p:cNvSpPr>
          <p:nvPr/>
        </p:nvSpPr>
        <p:spPr>
          <a:xfrm>
            <a:off x="781050" y="3905250"/>
            <a:ext cx="1381125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4B96"/>
                </a:solidFill>
              </a:defRPr>
            </a:pPr>
            <a:r>
              <a:rPr sz="1300" b="1">
                <a:solidFill>
                  <a:srgbClr val="174B96"/>
                </a:solidFill>
              </a:rPr>
              <a:t>Testing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936ECDE-6D0E-4866-91AD-B1E48CB81758}"/>
              </a:ext>
            </a:extLst>
          </p:cNvPr>
          <p:cNvSpPr>
            <a:spLocks noGrp="1"/>
          </p:cNvSpPr>
          <p:nvPr/>
        </p:nvSpPr>
        <p:spPr>
          <a:xfrm>
            <a:off x="2209800" y="3905250"/>
            <a:ext cx="179070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300" b="1">
                <a:solidFill>
                  <a:srgbClr val="14213D"/>
                </a:solidFill>
              </a:rPr>
              <a:t>Pytest + mutation testing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910FBDA-7CAB-440D-8069-8F5B7E8488E3}"/>
              </a:ext>
            </a:extLst>
          </p:cNvPr>
          <p:cNvSpPr>
            <a:spLocks noGrp="1"/>
          </p:cNvSpPr>
          <p:nvPr/>
        </p:nvSpPr>
        <p:spPr>
          <a:xfrm>
            <a:off x="4095750" y="3905250"/>
            <a:ext cx="226695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B6780"/>
                </a:solidFill>
              </a:defRPr>
            </a:pPr>
            <a:r>
              <a:rPr sz="1300" b="0">
                <a:solidFill>
                  <a:srgbClr val="5B6780"/>
                </a:solidFill>
              </a:rPr>
              <a:t>489 automated tests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EFAEE54-829C-4D0D-926A-A28A68D62C8B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5905500" cy="51435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80ED14-288A-4014-A388-29CF8BBA71C0}"/>
              </a:ext>
            </a:extLst>
          </p:cNvPr>
          <p:cNvSpPr>
            <a:spLocks noGrp="1"/>
          </p:cNvSpPr>
          <p:nvPr/>
        </p:nvSpPr>
        <p:spPr>
          <a:xfrm>
            <a:off x="781050" y="4543425"/>
            <a:ext cx="1381125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74B96"/>
                </a:solidFill>
              </a:defRPr>
            </a:pPr>
            <a:r>
              <a:rPr sz="1300" b="1">
                <a:solidFill>
                  <a:srgbClr val="174B96"/>
                </a:solidFill>
              </a:rPr>
              <a:t>Environment / VCS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671E41-9446-4230-8D9C-C89504983FB9}"/>
              </a:ext>
            </a:extLst>
          </p:cNvPr>
          <p:cNvSpPr>
            <a:spLocks noGrp="1"/>
          </p:cNvSpPr>
          <p:nvPr/>
        </p:nvSpPr>
        <p:spPr>
          <a:xfrm>
            <a:off x="2209800" y="4543425"/>
            <a:ext cx="179070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14213D"/>
                </a:solidFill>
              </a:defRPr>
            </a:pPr>
            <a:r>
              <a:rPr sz="1300" b="1">
                <a:solidFill>
                  <a:srgbClr val="14213D"/>
                </a:solidFill>
              </a:rPr>
              <a:t>Conda · Git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AC5174EA-724F-4456-837D-5376BF7A54A6}"/>
              </a:ext>
            </a:extLst>
          </p:cNvPr>
          <p:cNvSpPr>
            <a:spLocks noGrp="1"/>
          </p:cNvSpPr>
          <p:nvPr/>
        </p:nvSpPr>
        <p:spPr>
          <a:xfrm>
            <a:off x="4095750" y="4543425"/>
            <a:ext cx="2266950" cy="333375"/>
          </a:xfrm>
          <a:prstGeom prst="roundRect">
            <a:avLst>
              <a:gd name="adj" fmla="val 2285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0">
                <a:solidFill>
                  <a:srgbClr val="5B6780"/>
                </a:solidFill>
              </a:defRPr>
            </a:pPr>
            <a:r>
              <a:rPr sz="1300" b="0">
                <a:solidFill>
                  <a:srgbClr val="5B6780"/>
                </a:solidFill>
              </a:rPr>
              <a:t>Reproducible isolation and result traceability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4AC6AB5-7A2A-4E9D-AE9B-F29C67C33958}"/>
              </a:ext>
            </a:extLst>
          </p:cNvPr>
          <p:cNvSpPr>
            <a:spLocks noGrp="1"/>
          </p:cNvSpPr>
          <p:nvPr/>
        </p:nvSpPr>
        <p:spPr>
          <a:xfrm>
            <a:off x="6981825" y="1924050"/>
            <a:ext cx="4333875" cy="3162300"/>
          </a:xfrm>
          <a:prstGeom prst="roundRect">
            <a:avLst>
              <a:gd name="adj" fmla="val 3614"/>
            </a:avLst>
          </a:prstGeom>
          <a:solidFill>
            <a:srgbClr val="0F274F"/>
          </a:solidFill>
          <a:ln w="9525">
            <a:solidFill>
              <a:srgbClr val="0F274F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8FED969-2894-42DB-9739-5558EB11B5BB}"/>
              </a:ext>
            </a:extLst>
          </p:cNvPr>
          <p:cNvSpPr>
            <a:spLocks noGrp="1"/>
          </p:cNvSpPr>
          <p:nvPr/>
        </p:nvSpPr>
        <p:spPr>
          <a:xfrm>
            <a:off x="7258050" y="2133600"/>
            <a:ext cx="371475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FFFFFF"/>
                </a:solidFill>
              </a:defRPr>
            </a:pPr>
            <a:r>
              <a:rPr sz="1300" b="1">
                <a:solidFill>
                  <a:srgbClr val="FFFFFF"/>
                </a:solidFill>
              </a:rPr>
              <a:t>Breadth-probe item (JSON)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471378C3-9B62-4F4C-A527-427E66023FD5}"/>
              </a:ext>
            </a:extLst>
          </p:cNvPr>
          <p:cNvSpPr>
            <a:spLocks noGrp="1"/>
          </p:cNvSpPr>
          <p:nvPr/>
        </p:nvSpPr>
        <p:spPr>
          <a:xfrm>
            <a:off x="7258050" y="2514600"/>
            <a:ext cx="3667125" cy="2228850"/>
          </a:xfrm>
          <a:prstGeom prst="roundRect">
            <a:avLst>
              <a:gd name="adj" fmla="val 341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{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"item_id": "B0_0",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"tier": "B0",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"question": "What is the full name of the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  author born in Taipei, Taiwan ...?",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"correct_answer": "Hsiao Yun-Hwa is the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  complete name of the writer.",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"correct_source": "paraphrased_answer",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  "wrong_answers": ["...", "...", "..."]</a:t>
            </a:r>
          </a:p>
          <a:p>
            <a:pPr algn="l">
              <a:defRPr sz="1125" b="0">
                <a:solidFill>
                  <a:srgbClr val="EAF2FF"/>
                </a:solidFill>
              </a:defRPr>
            </a:pPr>
            <a:r>
              <a:rPr sz="1300" b="0">
                <a:solidFill>
                  <a:srgbClr val="EAF2FF"/>
                </a:solidFill>
              </a:rPr>
              <a:t>}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2BD5F25-3BAD-467F-AE7E-EEA601C356BD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706100" cy="552450"/>
          </a:xfrm>
          <a:prstGeom prst="roundRect">
            <a:avLst>
              <a:gd name="adj" fmla="val 13793"/>
            </a:avLst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5BA3A3-006F-4FFE-A98E-DA65D25C551D}"/>
              </a:ext>
            </a:extLst>
          </p:cNvPr>
          <p:cNvSpPr>
            <a:spLocks noGrp="1"/>
          </p:cNvSpPr>
          <p:nvPr/>
        </p:nvSpPr>
        <p:spPr>
          <a:xfrm>
            <a:off x="838200" y="5591175"/>
            <a:ext cx="102870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14213D"/>
                </a:solidFill>
              </a:defRPr>
            </a:pPr>
            <a:r>
              <a:rPr sz="1300" b="0">
                <a:solidFill>
                  <a:srgbClr val="14213D"/>
                </a:solidFill>
              </a:rPr>
              <a:t>1,200 breadth items are exported as plain JSON: 400 per populated tier, independent of project code, enabling direct benchmark checks.</a:t>
            </a:r>
          </a:p>
        </p:txBody>
      </p:sp>
    </p:spTree>
    <p:extLst>
      <p:ext uri="{BB962C8B-B14F-4D97-AF65-F5344CB8AC3E}">
        <p14:creationId xmlns:p14="http://schemas.microsoft.com/office/powerpoint/2010/main" val="1424625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FD2C2F73-7C5A-46DC-A732-17DC9236E996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COST ANALYSIS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EED4176-1071-4692-ACE2-FA4793B82DA9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Compute is the only material cost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C489EB0-B7F0-40E1-BB0B-05309F0CDC1F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11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718F1B8-7B83-42EA-9FB4-D76E909941C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9E53CEB-0D70-42B1-BD34-6DD69BB257F0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Cost Analysis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7227D1-3E0C-4AD0-948F-6C8C12D3738D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3200AB-9E3F-4C21-ACB8-4E2394EB4DD3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981075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No licensed software and no paid data are used. Capacity is planned in GPU-hours.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334290A-BD70-4E8C-8B82-ED33BF4E143E}"/>
              </a:ext>
            </a:extLst>
          </p:cNvPr>
          <p:cNvSpPr>
            <a:spLocks noGrp="1"/>
          </p:cNvSpPr>
          <p:nvPr/>
        </p:nvSpPr>
        <p:spPr>
          <a:xfrm>
            <a:off x="781050" y="1924050"/>
            <a:ext cx="219075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Item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2AA083D-013B-41A9-860F-500CAA4DCFB9}"/>
              </a:ext>
            </a:extLst>
          </p:cNvPr>
          <p:cNvSpPr>
            <a:spLocks noGrp="1"/>
          </p:cNvSpPr>
          <p:nvPr/>
        </p:nvSpPr>
        <p:spPr>
          <a:xfrm>
            <a:off x="3238500" y="1924050"/>
            <a:ext cx="47625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Basis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5CCC088-A699-4377-B51C-47FDA9D98351}"/>
              </a:ext>
            </a:extLst>
          </p:cNvPr>
          <p:cNvSpPr>
            <a:spLocks noGrp="1"/>
          </p:cNvSpPr>
          <p:nvPr/>
        </p:nvSpPr>
        <p:spPr>
          <a:xfrm>
            <a:off x="8572500" y="1924050"/>
            <a:ext cx="17145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Cost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5351D11-15A7-41FE-9839-B0A75F8BF402}"/>
              </a:ext>
            </a:extLst>
          </p:cNvPr>
          <p:cNvSpPr>
            <a:spLocks noGrp="1"/>
          </p:cNvSpPr>
          <p:nvPr/>
        </p:nvSpPr>
        <p:spPr>
          <a:xfrm>
            <a:off x="704850" y="2219325"/>
            <a:ext cx="8382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3095603-89BB-4CE7-AEE1-CC3266A14F79}"/>
              </a:ext>
            </a:extLst>
          </p:cNvPr>
          <p:cNvSpPr>
            <a:spLocks noGrp="1"/>
          </p:cNvSpPr>
          <p:nvPr/>
        </p:nvSpPr>
        <p:spPr>
          <a:xfrm>
            <a:off x="781050" y="2295525"/>
            <a:ext cx="2286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Benchmark data (TOFU)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67FC287-5A07-4C64-9BD8-204FA54D3C54}"/>
              </a:ext>
            </a:extLst>
          </p:cNvPr>
          <p:cNvSpPr>
            <a:spLocks noGrp="1"/>
          </p:cNvSpPr>
          <p:nvPr/>
        </p:nvSpPr>
        <p:spPr>
          <a:xfrm>
            <a:off x="3238500" y="2295525"/>
            <a:ext cx="4857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Public research release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1B0A7D9-118E-4FD9-B59E-117F44F3D6C2}"/>
              </a:ext>
            </a:extLst>
          </p:cNvPr>
          <p:cNvSpPr>
            <a:spLocks noGrp="1"/>
          </p:cNvSpPr>
          <p:nvPr/>
        </p:nvSpPr>
        <p:spPr>
          <a:xfrm>
            <a:off x="8572500" y="2295525"/>
            <a:ext cx="1333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Nil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3EDF181-CC77-4E0D-9FDE-796F44A62936}"/>
              </a:ext>
            </a:extLst>
          </p:cNvPr>
          <p:cNvSpPr>
            <a:spLocks noGrp="1"/>
          </p:cNvSpPr>
          <p:nvPr/>
        </p:nvSpPr>
        <p:spPr>
          <a:xfrm>
            <a:off x="704850" y="2762250"/>
            <a:ext cx="8382000" cy="438150"/>
          </a:xfrm>
          <a:prstGeom prst="roundRect">
            <a:avLst>
              <a:gd name="adj" fmla="val 17391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33312DD-0C8B-4DA1-B5E9-8631EA68BA9B}"/>
              </a:ext>
            </a:extLst>
          </p:cNvPr>
          <p:cNvSpPr>
            <a:spLocks noGrp="1"/>
          </p:cNvSpPr>
          <p:nvPr/>
        </p:nvSpPr>
        <p:spPr>
          <a:xfrm>
            <a:off x="781050" y="2838450"/>
            <a:ext cx="2286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Model checkpoints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321E117-DCB6-410F-A1AB-0259C1C915F8}"/>
              </a:ext>
            </a:extLst>
          </p:cNvPr>
          <p:cNvSpPr>
            <a:spLocks noGrp="1"/>
          </p:cNvSpPr>
          <p:nvPr/>
        </p:nvSpPr>
        <p:spPr>
          <a:xfrm>
            <a:off x="3238500" y="2838450"/>
            <a:ext cx="4857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Llama 3.2 community licence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164D25-DDB2-4B9A-AD56-54FA710D6064}"/>
              </a:ext>
            </a:extLst>
          </p:cNvPr>
          <p:cNvSpPr>
            <a:spLocks noGrp="1"/>
          </p:cNvSpPr>
          <p:nvPr/>
        </p:nvSpPr>
        <p:spPr>
          <a:xfrm>
            <a:off x="8572500" y="2838450"/>
            <a:ext cx="1333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Nil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5FAD1B-9420-45AB-BF02-8B981F1EAF9D}"/>
              </a:ext>
            </a:extLst>
          </p:cNvPr>
          <p:cNvSpPr>
            <a:spLocks noGrp="1"/>
          </p:cNvSpPr>
          <p:nvPr/>
        </p:nvSpPr>
        <p:spPr>
          <a:xfrm>
            <a:off x="704850" y="3305175"/>
            <a:ext cx="8382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EA096C8-C62D-4217-BC13-4F4CB044811A}"/>
              </a:ext>
            </a:extLst>
          </p:cNvPr>
          <p:cNvSpPr>
            <a:spLocks noGrp="1"/>
          </p:cNvSpPr>
          <p:nvPr/>
        </p:nvSpPr>
        <p:spPr>
          <a:xfrm>
            <a:off x="781050" y="3381375"/>
            <a:ext cx="2286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Software stack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5193F75-02CC-4045-B622-D097591401FA}"/>
              </a:ext>
            </a:extLst>
          </p:cNvPr>
          <p:cNvSpPr>
            <a:spLocks noGrp="1"/>
          </p:cNvSpPr>
          <p:nvPr/>
        </p:nvSpPr>
        <p:spPr>
          <a:xfrm>
            <a:off x="3238500" y="3381375"/>
            <a:ext cx="4857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PyTorch, Transformers, SciPy, Matplotlib, Pytest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426F972-FC74-4C68-9D22-9D8CDCE9F6B2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1333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Nil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226F477-9D9E-45C0-920E-4431E3437683}"/>
              </a:ext>
            </a:extLst>
          </p:cNvPr>
          <p:cNvSpPr>
            <a:spLocks noGrp="1"/>
          </p:cNvSpPr>
          <p:nvPr/>
        </p:nvSpPr>
        <p:spPr>
          <a:xfrm>
            <a:off x="704850" y="3848100"/>
            <a:ext cx="8382000" cy="438150"/>
          </a:xfrm>
          <a:prstGeom prst="roundRect">
            <a:avLst>
              <a:gd name="adj" fmla="val 17391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D1814656-37F2-4671-8D26-40C2301B4E49}"/>
              </a:ext>
            </a:extLst>
          </p:cNvPr>
          <p:cNvSpPr>
            <a:spLocks noGrp="1"/>
          </p:cNvSpPr>
          <p:nvPr/>
        </p:nvSpPr>
        <p:spPr>
          <a:xfrm>
            <a:off x="781050" y="3924300"/>
            <a:ext cx="2286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Compute completed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2838A89-F410-4F92-8D4A-2851FE6E7DD7}"/>
              </a:ext>
            </a:extLst>
          </p:cNvPr>
          <p:cNvSpPr>
            <a:spLocks noGrp="1"/>
          </p:cNvSpPr>
          <p:nvPr/>
        </p:nvSpPr>
        <p:spPr>
          <a:xfrm>
            <a:off x="3238500" y="3924300"/>
            <a:ext cx="4857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Depth validation + breadth calibration + one 1B study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D1254A-59ED-4D9E-9E94-4C797401AAF4}"/>
              </a:ext>
            </a:extLst>
          </p:cNvPr>
          <p:cNvSpPr>
            <a:spLocks noGrp="1"/>
          </p:cNvSpPr>
          <p:nvPr/>
        </p:nvSpPr>
        <p:spPr>
          <a:xfrm>
            <a:off x="8572500" y="3924300"/>
            <a:ext cx="1333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≈ 25 GPU-h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285FA8A-3A2C-4FEA-9C27-84D5AB24FBB2}"/>
              </a:ext>
            </a:extLst>
          </p:cNvPr>
          <p:cNvSpPr>
            <a:spLocks noGrp="1"/>
          </p:cNvSpPr>
          <p:nvPr/>
        </p:nvSpPr>
        <p:spPr>
          <a:xfrm>
            <a:off x="704850" y="4391025"/>
            <a:ext cx="8382000" cy="43815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9B6FE91-AB04-490E-802E-EA8C9C26AD37}"/>
              </a:ext>
            </a:extLst>
          </p:cNvPr>
          <p:cNvSpPr>
            <a:spLocks noGrp="1"/>
          </p:cNvSpPr>
          <p:nvPr/>
        </p:nvSpPr>
        <p:spPr>
          <a:xfrm>
            <a:off x="781050" y="4467225"/>
            <a:ext cx="2286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Compute remaining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88F4850-5DC9-4F5C-816C-73EC7CE77988}"/>
              </a:ext>
            </a:extLst>
          </p:cNvPr>
          <p:cNvSpPr>
            <a:spLocks noGrp="1"/>
          </p:cNvSpPr>
          <p:nvPr/>
        </p:nvSpPr>
        <p:spPr>
          <a:xfrm>
            <a:off x="3238500" y="4467225"/>
            <a:ext cx="4857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Replication across methods / seeds + 3B scale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1C594BE-4D79-4472-B93C-9524815FE06D}"/>
              </a:ext>
            </a:extLst>
          </p:cNvPr>
          <p:cNvSpPr>
            <a:spLocks noGrp="1"/>
          </p:cNvSpPr>
          <p:nvPr/>
        </p:nvSpPr>
        <p:spPr>
          <a:xfrm>
            <a:off x="8572500" y="4467225"/>
            <a:ext cx="1333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≈ 120 GPU-h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C56134-C5C1-4238-B32A-67CC85EA3BDF}"/>
              </a:ext>
            </a:extLst>
          </p:cNvPr>
          <p:cNvSpPr>
            <a:spLocks noGrp="1"/>
          </p:cNvSpPr>
          <p:nvPr/>
        </p:nvSpPr>
        <p:spPr>
          <a:xfrm>
            <a:off x="704850" y="4933950"/>
            <a:ext cx="8382000" cy="438150"/>
          </a:xfrm>
          <a:prstGeom prst="roundRect">
            <a:avLst>
              <a:gd name="adj" fmla="val 17391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95B83AD-C836-4C67-AECF-3AC0CA965C56}"/>
              </a:ext>
            </a:extLst>
          </p:cNvPr>
          <p:cNvSpPr>
            <a:spLocks noGrp="1"/>
          </p:cNvSpPr>
          <p:nvPr/>
        </p:nvSpPr>
        <p:spPr>
          <a:xfrm>
            <a:off x="781050" y="5010150"/>
            <a:ext cx="22860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Storage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DA88E37F-97D3-44D4-AC49-8DDABACD8993}"/>
              </a:ext>
            </a:extLst>
          </p:cNvPr>
          <p:cNvSpPr>
            <a:spLocks noGrp="1"/>
          </p:cNvSpPr>
          <p:nvPr/>
        </p:nvSpPr>
        <p:spPr>
          <a:xfrm>
            <a:off x="3238500" y="5010150"/>
            <a:ext cx="485775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Model cache, run artefacts, checkpoints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B28B24B1-B5DA-4F91-9FE5-35FCF1F56F86}"/>
              </a:ext>
            </a:extLst>
          </p:cNvPr>
          <p:cNvSpPr>
            <a:spLocks noGrp="1"/>
          </p:cNvSpPr>
          <p:nvPr/>
        </p:nvSpPr>
        <p:spPr>
          <a:xfrm>
            <a:off x="8572500" y="5010150"/>
            <a:ext cx="1333500" cy="285750"/>
          </a:xfrm>
          <a:prstGeom prst="roundRect">
            <a:avLst>
              <a:gd name="adj" fmla="val 26667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≈ 250 GB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DEF68AD1-4860-4C51-A0AB-BB116C0501BC}"/>
              </a:ext>
            </a:extLst>
          </p:cNvPr>
          <p:cNvSpPr>
            <a:spLocks noGrp="1"/>
          </p:cNvSpPr>
          <p:nvPr/>
        </p:nvSpPr>
        <p:spPr>
          <a:xfrm>
            <a:off x="9605019" y="2228850"/>
            <a:ext cx="28575" cy="91440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9525">
            <a:solidFill>
              <a:srgbClr val="174B96"/>
            </a:solidFill>
            <a:prstDash val="solid"/>
          </a:ln>
        </p:spPr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AF89A4A-D933-43A1-82AE-7DCB61CFB4AC}"/>
              </a:ext>
            </a:extLst>
          </p:cNvPr>
          <p:cNvSpPr>
            <a:spLocks noGrp="1"/>
          </p:cNvSpPr>
          <p:nvPr/>
        </p:nvSpPr>
        <p:spPr>
          <a:xfrm>
            <a:off x="9696450" y="2286000"/>
            <a:ext cx="142875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25 GPU-h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81090123-6C33-4128-9489-E18F2CDE0C3C}"/>
              </a:ext>
            </a:extLst>
          </p:cNvPr>
          <p:cNvSpPr>
            <a:spLocks noGrp="1"/>
          </p:cNvSpPr>
          <p:nvPr/>
        </p:nvSpPr>
        <p:spPr>
          <a:xfrm>
            <a:off x="9696450" y="2581275"/>
            <a:ext cx="14287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spent to date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D13F3F21-1012-4FE0-84D0-4F6F1CF918F2}"/>
              </a:ext>
            </a:extLst>
          </p:cNvPr>
          <p:cNvSpPr>
            <a:spLocks noGrp="1"/>
          </p:cNvSpPr>
          <p:nvPr/>
        </p:nvSpPr>
        <p:spPr>
          <a:xfrm flipH="1">
            <a:off x="9605019" y="3305175"/>
            <a:ext cx="55265" cy="914400"/>
          </a:xfrm>
          <a:prstGeom prst="roundRect">
            <a:avLst>
              <a:gd name="adj" fmla="val 50000"/>
            </a:avLst>
          </a:prstGeom>
          <a:solidFill>
            <a:srgbClr val="B76E00"/>
          </a:solidFill>
          <a:ln w="9525">
            <a:solidFill>
              <a:srgbClr val="B76E00"/>
            </a:solidFill>
            <a:prstDash val="solid"/>
          </a:ln>
        </p:spPr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A2DCA33A-0B9D-4211-A5C8-1D10677CFE0F}"/>
              </a:ext>
            </a:extLst>
          </p:cNvPr>
          <p:cNvSpPr>
            <a:spLocks noGrp="1"/>
          </p:cNvSpPr>
          <p:nvPr/>
        </p:nvSpPr>
        <p:spPr>
          <a:xfrm>
            <a:off x="9696450" y="3409950"/>
            <a:ext cx="142875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B76E00"/>
                </a:solidFill>
              </a:defRPr>
            </a:pPr>
            <a:r>
              <a:rPr sz="1400" b="1">
                <a:solidFill>
                  <a:srgbClr val="B76E00"/>
                </a:solidFill>
              </a:rPr>
              <a:t>120 GPU-h</a:t>
            </a:r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09638BC8-97EC-436E-B531-CFAEDE19BDB9}"/>
              </a:ext>
            </a:extLst>
          </p:cNvPr>
          <p:cNvSpPr>
            <a:spLocks noGrp="1"/>
          </p:cNvSpPr>
          <p:nvPr/>
        </p:nvSpPr>
        <p:spPr>
          <a:xfrm>
            <a:off x="9696450" y="3705225"/>
            <a:ext cx="14287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remaining</a:t>
            </a:r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5DEDC1BF-61E1-41D6-A1CA-E6F424A26B89}"/>
              </a:ext>
            </a:extLst>
          </p:cNvPr>
          <p:cNvSpPr>
            <a:spLocks noGrp="1"/>
          </p:cNvSpPr>
          <p:nvPr/>
        </p:nvSpPr>
        <p:spPr>
          <a:xfrm>
            <a:off x="9629796" y="4429125"/>
            <a:ext cx="45719" cy="914400"/>
          </a:xfrm>
          <a:prstGeom prst="roundRect">
            <a:avLst>
              <a:gd name="adj" fmla="val 50000"/>
            </a:avLst>
          </a:prstGeom>
          <a:solidFill>
            <a:srgbClr val="1F7A45"/>
          </a:solidFill>
          <a:ln w="9525">
            <a:solidFill>
              <a:srgbClr val="1F7A45"/>
            </a:solidFill>
            <a:prstDash val="solid"/>
          </a:ln>
        </p:spPr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0868127C-B2BA-4BCF-AED9-6E5C35C7180B}"/>
              </a:ext>
            </a:extLst>
          </p:cNvPr>
          <p:cNvSpPr>
            <a:spLocks noGrp="1"/>
          </p:cNvSpPr>
          <p:nvPr/>
        </p:nvSpPr>
        <p:spPr>
          <a:xfrm>
            <a:off x="9696450" y="4533900"/>
            <a:ext cx="142875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F7A45"/>
                </a:solidFill>
              </a:defRPr>
            </a:pPr>
            <a:r>
              <a:rPr sz="1400" b="1">
                <a:solidFill>
                  <a:srgbClr val="1F7A45"/>
                </a:solidFill>
              </a:rPr>
              <a:t>₹0 / $0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CB1D1E3-57E0-4F1E-BFD2-B44FF183DD21}"/>
              </a:ext>
            </a:extLst>
          </p:cNvPr>
          <p:cNvSpPr>
            <a:spLocks noGrp="1"/>
          </p:cNvSpPr>
          <p:nvPr/>
        </p:nvSpPr>
        <p:spPr>
          <a:xfrm>
            <a:off x="9696450" y="4829175"/>
            <a:ext cx="142875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licence or data cost</a:t>
            </a:r>
          </a:p>
        </p:txBody>
      </p:sp>
    </p:spTree>
    <p:extLst>
      <p:ext uri="{BB962C8B-B14F-4D97-AF65-F5344CB8AC3E}">
        <p14:creationId xmlns:p14="http://schemas.microsoft.com/office/powerpoint/2010/main" val="11073831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7BABC6BA-C853-44BF-8EEA-57183F9B3BEC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PROJECT OUTCOMES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9748DF8-E2B4-4421-A121-5DFD6E33727F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The instruments work end to end; claims remain bounded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D15058-DAC4-4D07-A06C-01A1DD57414D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12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980A70F-D5C2-4FC9-BCBF-A4198A1EE01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BA85E7D-FED3-42CF-9DDE-D9B109CAA7F1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Project Outcomes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E72A74B-AF97-4E52-B064-7E485BDBD47D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16F0F14-847C-4B67-8547-B47DD1CB0A07}"/>
              </a:ext>
            </a:extLst>
          </p:cNvPr>
          <p:cNvSpPr>
            <a:spLocks noGrp="1"/>
          </p:cNvSpPr>
          <p:nvPr/>
        </p:nvSpPr>
        <p:spPr>
          <a:xfrm>
            <a:off x="609600" y="1412016"/>
            <a:ext cx="10477500" cy="266700"/>
          </a:xfrm>
          <a:prstGeom prst="roundRect">
            <a:avLst>
              <a:gd name="adj" fmla="val 2857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000" b="0">
                <a:solidFill>
                  <a:srgbClr val="5B6780"/>
                </a:solidFill>
              </a:rPr>
              <a:t>Depth validation is within the pre-set tolerance; one gradient-ascent trajectory is available at 1B.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45E0AAC-DDEE-409B-819C-A6BA0EA5C039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4667250" cy="300037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2AE8D6-2B37-406C-8670-411485BB68BA}"/>
              </a:ext>
            </a:extLst>
          </p:cNvPr>
          <p:cNvSpPr>
            <a:spLocks noGrp="1"/>
          </p:cNvSpPr>
          <p:nvPr/>
        </p:nvSpPr>
        <p:spPr>
          <a:xfrm>
            <a:off x="857250" y="2047875"/>
            <a:ext cx="3524250" cy="219075"/>
          </a:xfrm>
          <a:prstGeom prst="roundRect">
            <a:avLst>
              <a:gd name="adj" fmla="val 3478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425" b="1">
                <a:solidFill>
                  <a:srgbClr val="174B96"/>
                </a:solidFill>
              </a:defRPr>
            </a:pPr>
            <a:r>
              <a:rPr sz="1000" b="1">
                <a:solidFill>
                  <a:srgbClr val="174B96"/>
                </a:solidFill>
              </a:rPr>
              <a:t>Depth axis: published vs measured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618DA0F-0A6F-439F-A04A-CC3CC2D240DF}"/>
              </a:ext>
            </a:extLst>
          </p:cNvPr>
          <p:cNvSpPr>
            <a:spLocks noGrp="1"/>
          </p:cNvSpPr>
          <p:nvPr/>
        </p:nvSpPr>
        <p:spPr>
          <a:xfrm>
            <a:off x="857250" y="2428875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B6780"/>
                </a:solidFill>
              </a:defRPr>
            </a:pPr>
            <a:r>
              <a:rPr sz="1000" b="1">
                <a:solidFill>
                  <a:srgbClr val="5B6780"/>
                </a:solidFill>
              </a:rPr>
              <a:t>Model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70BD7F-01D1-4DB2-9F38-BFF80BFEC0D7}"/>
              </a:ext>
            </a:extLst>
          </p:cNvPr>
          <p:cNvSpPr>
            <a:spLocks noGrp="1"/>
          </p:cNvSpPr>
          <p:nvPr/>
        </p:nvSpPr>
        <p:spPr>
          <a:xfrm>
            <a:off x="2152650" y="2428875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B6780"/>
                </a:solidFill>
              </a:defRPr>
            </a:pPr>
            <a:r>
              <a:rPr sz="1000" b="1">
                <a:solidFill>
                  <a:srgbClr val="5B6780"/>
                </a:solidFill>
              </a:rPr>
              <a:t>Published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B27C3E1-80EC-4EBE-A45E-6AC9354929DD}"/>
              </a:ext>
            </a:extLst>
          </p:cNvPr>
          <p:cNvSpPr>
            <a:spLocks noGrp="1"/>
          </p:cNvSpPr>
          <p:nvPr/>
        </p:nvSpPr>
        <p:spPr>
          <a:xfrm>
            <a:off x="3209925" y="2428875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B6780"/>
                </a:solidFill>
              </a:defRPr>
            </a:pPr>
            <a:r>
              <a:rPr sz="1000" b="1">
                <a:solidFill>
                  <a:srgbClr val="5B6780"/>
                </a:solidFill>
              </a:rPr>
              <a:t>Measured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0C3E5C6-541C-4A10-9CD8-B90695A90599}"/>
              </a:ext>
            </a:extLst>
          </p:cNvPr>
          <p:cNvSpPr>
            <a:spLocks noGrp="1"/>
          </p:cNvSpPr>
          <p:nvPr/>
        </p:nvSpPr>
        <p:spPr>
          <a:xfrm>
            <a:off x="4238625" y="2428875"/>
            <a:ext cx="7620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050" b="1">
                <a:solidFill>
                  <a:srgbClr val="5B6780"/>
                </a:solidFill>
              </a:defRPr>
            </a:pPr>
            <a:r>
              <a:rPr sz="1000" b="1">
                <a:solidFill>
                  <a:srgbClr val="5B6780"/>
                </a:solidFill>
              </a:rPr>
              <a:t>Deviation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039123C-B696-44B8-887A-EC44F8E9CE2F}"/>
              </a:ext>
            </a:extLst>
          </p:cNvPr>
          <p:cNvSpPr>
            <a:spLocks noGrp="1"/>
          </p:cNvSpPr>
          <p:nvPr/>
        </p:nvSpPr>
        <p:spPr>
          <a:xfrm>
            <a:off x="800100" y="2714625"/>
            <a:ext cx="4191000" cy="314325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FAC7047-40A7-4300-82B0-EDCC00078E31}"/>
              </a:ext>
            </a:extLst>
          </p:cNvPr>
          <p:cNvSpPr>
            <a:spLocks noGrp="1"/>
          </p:cNvSpPr>
          <p:nvPr/>
        </p:nvSpPr>
        <p:spPr>
          <a:xfrm>
            <a:off x="857250" y="2771775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000" b="1">
                <a:solidFill>
                  <a:srgbClr val="14213D"/>
                </a:solidFill>
              </a:rPr>
              <a:t>full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548AE0A-C72A-4D35-ABB8-06DE1B555AFD}"/>
              </a:ext>
            </a:extLst>
          </p:cNvPr>
          <p:cNvSpPr>
            <a:spLocks noGrp="1"/>
          </p:cNvSpPr>
          <p:nvPr/>
        </p:nvSpPr>
        <p:spPr>
          <a:xfrm>
            <a:off x="2152650" y="2771775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0.002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263E18B-A92A-44D4-A64A-F8FD53E8549E}"/>
              </a:ext>
            </a:extLst>
          </p:cNvPr>
          <p:cNvSpPr>
            <a:spLocks noGrp="1"/>
          </p:cNvSpPr>
          <p:nvPr/>
        </p:nvSpPr>
        <p:spPr>
          <a:xfrm>
            <a:off x="3209925" y="2771775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0.000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3BADFBB-956A-4444-AE35-BAAC17FC6882}"/>
              </a:ext>
            </a:extLst>
          </p:cNvPr>
          <p:cNvSpPr>
            <a:spLocks noGrp="1"/>
          </p:cNvSpPr>
          <p:nvPr/>
        </p:nvSpPr>
        <p:spPr>
          <a:xfrm>
            <a:off x="4238625" y="2771775"/>
            <a:ext cx="7620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0.002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93594E-3ED4-47A8-9804-4E3F1BD9D045}"/>
              </a:ext>
            </a:extLst>
          </p:cNvPr>
          <p:cNvSpPr>
            <a:spLocks noGrp="1"/>
          </p:cNvSpPr>
          <p:nvPr/>
        </p:nvSpPr>
        <p:spPr>
          <a:xfrm>
            <a:off x="800100" y="3124200"/>
            <a:ext cx="4191000" cy="314325"/>
          </a:xfrm>
          <a:prstGeom prst="roundRect">
            <a:avLst>
              <a:gd name="adj" fmla="val 24242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0876AAB-F976-4019-8277-7A3925913931}"/>
              </a:ext>
            </a:extLst>
          </p:cNvPr>
          <p:cNvSpPr>
            <a:spLocks noGrp="1"/>
          </p:cNvSpPr>
          <p:nvPr/>
        </p:nvSpPr>
        <p:spPr>
          <a:xfrm>
            <a:off x="857250" y="318135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000" b="1">
                <a:solidFill>
                  <a:srgbClr val="14213D"/>
                </a:solidFill>
              </a:rPr>
              <a:t>retain99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2665B848-8703-429D-841E-DC907565A78C}"/>
              </a:ext>
            </a:extLst>
          </p:cNvPr>
          <p:cNvSpPr>
            <a:spLocks noGrp="1"/>
          </p:cNvSpPr>
          <p:nvPr/>
        </p:nvSpPr>
        <p:spPr>
          <a:xfrm>
            <a:off x="2152650" y="3181350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0.153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A3B231B-F401-4E9B-B9F8-225EAAA503D4}"/>
              </a:ext>
            </a:extLst>
          </p:cNvPr>
          <p:cNvSpPr>
            <a:spLocks noGrp="1"/>
          </p:cNvSpPr>
          <p:nvPr/>
        </p:nvSpPr>
        <p:spPr>
          <a:xfrm>
            <a:off x="3209925" y="3181350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0.126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67C4AC7-48AB-4B1A-BE18-5840A2E6A84F}"/>
              </a:ext>
            </a:extLst>
          </p:cNvPr>
          <p:cNvSpPr>
            <a:spLocks noGrp="1"/>
          </p:cNvSpPr>
          <p:nvPr/>
        </p:nvSpPr>
        <p:spPr>
          <a:xfrm>
            <a:off x="4238625" y="3181350"/>
            <a:ext cx="7620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0.027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01ED490-11B9-42C9-BE75-2DD46ED005C0}"/>
              </a:ext>
            </a:extLst>
          </p:cNvPr>
          <p:cNvSpPr>
            <a:spLocks noGrp="1"/>
          </p:cNvSpPr>
          <p:nvPr/>
        </p:nvSpPr>
        <p:spPr>
          <a:xfrm>
            <a:off x="800100" y="3533775"/>
            <a:ext cx="4191000" cy="314325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0">
            <a:noFill/>
            <a:prstDash val="solid"/>
          </a:ln>
        </p:spPr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009F9C13-538C-4384-A4DF-972AFCDA522B}"/>
              </a:ext>
            </a:extLst>
          </p:cNvPr>
          <p:cNvSpPr>
            <a:spLocks noGrp="1"/>
          </p:cNvSpPr>
          <p:nvPr/>
        </p:nvSpPr>
        <p:spPr>
          <a:xfrm>
            <a:off x="857250" y="3590925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000" b="1">
                <a:solidFill>
                  <a:srgbClr val="14213D"/>
                </a:solidFill>
              </a:rPr>
              <a:t>retain95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D05AA94-8920-4916-B198-CFA2E64FA2D7}"/>
              </a:ext>
            </a:extLst>
          </p:cNvPr>
          <p:cNvSpPr>
            <a:spLocks noGrp="1"/>
          </p:cNvSpPr>
          <p:nvPr/>
        </p:nvSpPr>
        <p:spPr>
          <a:xfrm>
            <a:off x="2152650" y="3590925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0.496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4D1EE36-DD44-42D8-AF4B-2A6BE2EF57F3}"/>
              </a:ext>
            </a:extLst>
          </p:cNvPr>
          <p:cNvSpPr>
            <a:spLocks noGrp="1"/>
          </p:cNvSpPr>
          <p:nvPr/>
        </p:nvSpPr>
        <p:spPr>
          <a:xfrm>
            <a:off x="3209925" y="3590925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0.486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A886A7D-7B28-487A-9471-531A93A14F3A}"/>
              </a:ext>
            </a:extLst>
          </p:cNvPr>
          <p:cNvSpPr>
            <a:spLocks noGrp="1"/>
          </p:cNvSpPr>
          <p:nvPr/>
        </p:nvSpPr>
        <p:spPr>
          <a:xfrm>
            <a:off x="4238625" y="3590925"/>
            <a:ext cx="7620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0.010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356FCD4B-CC8C-4611-B1F7-68F329236BBB}"/>
              </a:ext>
            </a:extLst>
          </p:cNvPr>
          <p:cNvSpPr>
            <a:spLocks noGrp="1"/>
          </p:cNvSpPr>
          <p:nvPr/>
        </p:nvSpPr>
        <p:spPr>
          <a:xfrm>
            <a:off x="800100" y="3943350"/>
            <a:ext cx="4191000" cy="314325"/>
          </a:xfrm>
          <a:prstGeom prst="roundRect">
            <a:avLst>
              <a:gd name="adj" fmla="val 24242"/>
            </a:avLst>
          </a:prstGeom>
          <a:solidFill>
            <a:srgbClr val="F4F7FC"/>
          </a:solidFill>
          <a:ln w="0">
            <a:noFill/>
            <a:prstDash val="solid"/>
          </a:ln>
        </p:spPr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E3B0065-B09A-4FA3-9316-85A396AFE6FF}"/>
              </a:ext>
            </a:extLst>
          </p:cNvPr>
          <p:cNvSpPr>
            <a:spLocks noGrp="1"/>
          </p:cNvSpPr>
          <p:nvPr/>
        </p:nvSpPr>
        <p:spPr>
          <a:xfrm>
            <a:off x="857250" y="4000500"/>
            <a:ext cx="10477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4213D"/>
                </a:solidFill>
              </a:defRPr>
            </a:pPr>
            <a:r>
              <a:rPr sz="1000" b="1">
                <a:solidFill>
                  <a:srgbClr val="14213D"/>
                </a:solidFill>
              </a:rPr>
              <a:t>retain90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65E87A1D-2781-4B52-954B-8F0D4A860096}"/>
              </a:ext>
            </a:extLst>
          </p:cNvPr>
          <p:cNvSpPr>
            <a:spLocks noGrp="1"/>
          </p:cNvSpPr>
          <p:nvPr/>
        </p:nvSpPr>
        <p:spPr>
          <a:xfrm>
            <a:off x="2152650" y="4000500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1.000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70B20AA4-647B-46FD-AE8D-8C547D9F4057}"/>
              </a:ext>
            </a:extLst>
          </p:cNvPr>
          <p:cNvSpPr>
            <a:spLocks noGrp="1"/>
          </p:cNvSpPr>
          <p:nvPr/>
        </p:nvSpPr>
        <p:spPr>
          <a:xfrm>
            <a:off x="3209925" y="4000500"/>
            <a:ext cx="78105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1.000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81DADF1F-542B-41B4-A92C-19B655232CCE}"/>
              </a:ext>
            </a:extLst>
          </p:cNvPr>
          <p:cNvSpPr>
            <a:spLocks noGrp="1"/>
          </p:cNvSpPr>
          <p:nvPr/>
        </p:nvSpPr>
        <p:spPr>
          <a:xfrm>
            <a:off x="4238625" y="4000500"/>
            <a:ext cx="7620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000" b="0">
                <a:solidFill>
                  <a:srgbClr val="14213D"/>
                </a:solidFill>
              </a:rPr>
              <a:t>0.000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85B4218-BFCC-4114-86E3-CC8F81CB0910}"/>
              </a:ext>
            </a:extLst>
          </p:cNvPr>
          <p:cNvSpPr>
            <a:spLocks noGrp="1"/>
          </p:cNvSpPr>
          <p:nvPr/>
        </p:nvSpPr>
        <p:spPr>
          <a:xfrm>
            <a:off x="857250" y="4448175"/>
            <a:ext cx="390525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1">
                <a:solidFill>
                  <a:srgbClr val="1F7A45"/>
                </a:solidFill>
              </a:defRPr>
            </a:pPr>
            <a:r>
              <a:rPr sz="1000" b="1">
                <a:solidFill>
                  <a:srgbClr val="1F7A45"/>
                </a:solidFill>
              </a:rPr>
              <a:t>Mean absolute deviation: 0.010 vs. 0.08 tolerance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87D0E52-E4EF-4F0E-B77F-54988417027F}"/>
              </a:ext>
            </a:extLst>
          </p:cNvPr>
          <p:cNvSpPr>
            <a:spLocks noGrp="1"/>
          </p:cNvSpPr>
          <p:nvPr/>
        </p:nvSpPr>
        <p:spPr>
          <a:xfrm>
            <a:off x="5581650" y="1828800"/>
            <a:ext cx="5734050" cy="3000375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pic>
        <p:nvPicPr>
          <p:cNvPr id="75" name="Picture 7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2981" y="1943100"/>
            <a:ext cx="4751388" cy="2733675"/>
          </a:xfrm>
          <a:prstGeom prst="rect">
            <a:avLst/>
          </a:prstGeom>
        </p:spPr>
      </p:pic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2F0469B-355B-4539-81D4-296D9C4535BB}"/>
              </a:ext>
            </a:extLst>
          </p:cNvPr>
          <p:cNvSpPr>
            <a:spLocks noGrp="1"/>
          </p:cNvSpPr>
          <p:nvPr/>
        </p:nvSpPr>
        <p:spPr>
          <a:xfrm>
            <a:off x="609600" y="5124450"/>
            <a:ext cx="10706100" cy="958466"/>
          </a:xfrm>
          <a:prstGeom prst="roundRect">
            <a:avLst>
              <a:gd name="adj" fmla="val 9756"/>
            </a:avLst>
          </a:prstGeom>
          <a:solidFill>
            <a:srgbClr val="FFF3F0"/>
          </a:solidFill>
          <a:ln w="9525">
            <a:solidFill>
              <a:srgbClr val="F4B7AC"/>
            </a:solidFill>
            <a:prstDash val="solid"/>
          </a:ln>
        </p:spPr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0AD7CEDF-9BA4-4BB7-A05E-04071BCF5400}"/>
              </a:ext>
            </a:extLst>
          </p:cNvPr>
          <p:cNvSpPr>
            <a:spLocks noGrp="1"/>
          </p:cNvSpPr>
          <p:nvPr/>
        </p:nvSpPr>
        <p:spPr>
          <a:xfrm>
            <a:off x="857250" y="5337821"/>
            <a:ext cx="19050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B42318"/>
                </a:solidFill>
              </a:defRPr>
            </a:pPr>
            <a:r>
              <a:rPr sz="1400" b="1" dirty="0">
                <a:solidFill>
                  <a:srgbClr val="B42318"/>
                </a:solidFill>
              </a:rPr>
              <a:t>Interpretation boundary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C075BB4A-0EF7-4E91-8480-9F2FEB05053B}"/>
              </a:ext>
            </a:extLst>
          </p:cNvPr>
          <p:cNvSpPr>
            <a:spLocks noGrp="1"/>
          </p:cNvSpPr>
          <p:nvPr/>
        </p:nvSpPr>
        <p:spPr>
          <a:xfrm>
            <a:off x="857250" y="5691318"/>
            <a:ext cx="10096500" cy="228600"/>
          </a:xfrm>
          <a:prstGeom prst="roundRect">
            <a:avLst>
              <a:gd name="adj" fmla="val 33333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125" b="0">
                <a:solidFill>
                  <a:srgbClr val="14213D"/>
                </a:solidFill>
              </a:defRPr>
            </a:pPr>
            <a:r>
              <a:rPr sz="1400" b="0" dirty="0">
                <a:solidFill>
                  <a:srgbClr val="14213D"/>
                </a:solidFill>
              </a:rPr>
              <a:t>Retained-knowledge utility falls from 0.720 to 0.625 across the sweep. Part of the joint rise may be general damage rather than targeted forgetting. One method, one model, one seed — not yet a research conclusion.</a:t>
            </a:r>
          </a:p>
        </p:txBody>
      </p:sp>
    </p:spTree>
    <p:extLst>
      <p:ext uri="{BB962C8B-B14F-4D97-AF65-F5344CB8AC3E}">
        <p14:creationId xmlns:p14="http://schemas.microsoft.com/office/powerpoint/2010/main" val="673776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2A8423E5-62A5-4F76-B32B-99327D381E3A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TEAM CONTRIBUTIONS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DE355E4-8CFE-43F1-A5AE-517BF7D0168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Each member owns a distinct part of the prototype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572C0EF-3DEE-4885-B0CC-FA3E4B57494F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13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B560590-B299-4674-8404-53365122B62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6D6846-613F-4881-B1FF-43B3F65A041E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Team Contributions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8D542D-8CED-45AD-BE7B-32777280F84D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2D1D78A-F71D-4696-8B26-4CE6D9399EDB}"/>
              </a:ext>
            </a:extLst>
          </p:cNvPr>
          <p:cNvSpPr>
            <a:spLocks noGrp="1"/>
          </p:cNvSpPr>
          <p:nvPr/>
        </p:nvSpPr>
        <p:spPr>
          <a:xfrm>
            <a:off x="609600" y="18669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04C83E-4AAE-426C-85EF-5ACB22C378F3}"/>
              </a:ext>
            </a:extLst>
          </p:cNvPr>
          <p:cNvSpPr>
            <a:spLocks noGrp="1"/>
          </p:cNvSpPr>
          <p:nvPr/>
        </p:nvSpPr>
        <p:spPr>
          <a:xfrm>
            <a:off x="1276350" y="2105025"/>
            <a:ext cx="647700" cy="6477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1FA0B77-ECAA-4525-BEDD-4C8B094E6AF4}"/>
              </a:ext>
            </a:extLst>
          </p:cNvPr>
          <p:cNvSpPr>
            <a:spLocks noGrp="1"/>
          </p:cNvSpPr>
          <p:nvPr/>
        </p:nvSpPr>
        <p:spPr>
          <a:xfrm>
            <a:off x="1276350" y="2238375"/>
            <a:ext cx="647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1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CBE093D-7CEE-481F-B683-60F5C36D64E6}"/>
              </a:ext>
            </a:extLst>
          </p:cNvPr>
          <p:cNvSpPr>
            <a:spLocks noGrp="1"/>
          </p:cNvSpPr>
          <p:nvPr/>
        </p:nvSpPr>
        <p:spPr>
          <a:xfrm>
            <a:off x="781050" y="2952750"/>
            <a:ext cx="16383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Rishabh Garg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0A44F69-DCBD-4BD6-BF3C-89E861A53DC3}"/>
              </a:ext>
            </a:extLst>
          </p:cNvPr>
          <p:cNvSpPr>
            <a:spLocks noGrp="1"/>
          </p:cNvSpPr>
          <p:nvPr/>
        </p:nvSpPr>
        <p:spPr>
          <a:xfrm>
            <a:off x="781050" y="3209925"/>
            <a:ext cx="16383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B6780"/>
                </a:solidFill>
              </a:defRPr>
            </a:pPr>
            <a:r>
              <a:rPr sz="1200" b="0">
                <a:solidFill>
                  <a:srgbClr val="5B6780"/>
                </a:solidFill>
              </a:rPr>
              <a:t>102317044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C7359E5-F19A-4D8E-8C5E-7D11DB89356F}"/>
              </a:ext>
            </a:extLst>
          </p:cNvPr>
          <p:cNvSpPr>
            <a:spLocks noGrp="1"/>
          </p:cNvSpPr>
          <p:nvPr/>
        </p:nvSpPr>
        <p:spPr>
          <a:xfrm>
            <a:off x="800100" y="3600450"/>
            <a:ext cx="1600200" cy="1238250"/>
          </a:xfrm>
          <a:prstGeom prst="roundRect">
            <a:avLst>
              <a:gd name="adj" fmla="val 615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Unlearning engine: GA / GradDiff / NPO; checkpoint selection; parameter-extrapolation traversal; depth-probe contribution.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B27938A1-4B91-4DA4-8240-478FBD0995BA}"/>
              </a:ext>
            </a:extLst>
          </p:cNvPr>
          <p:cNvSpPr>
            <a:spLocks noGrp="1"/>
          </p:cNvSpPr>
          <p:nvPr/>
        </p:nvSpPr>
        <p:spPr>
          <a:xfrm>
            <a:off x="2781300" y="18669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D2C7383-2038-471E-87F8-760F7F1DB9C5}"/>
              </a:ext>
            </a:extLst>
          </p:cNvPr>
          <p:cNvSpPr>
            <a:spLocks noGrp="1"/>
          </p:cNvSpPr>
          <p:nvPr/>
        </p:nvSpPr>
        <p:spPr>
          <a:xfrm>
            <a:off x="3448050" y="2105025"/>
            <a:ext cx="647700" cy="6477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95E6D0B-6269-42F9-80C2-21BE6FA6B9AF}"/>
              </a:ext>
            </a:extLst>
          </p:cNvPr>
          <p:cNvSpPr>
            <a:spLocks noGrp="1"/>
          </p:cNvSpPr>
          <p:nvPr/>
        </p:nvSpPr>
        <p:spPr>
          <a:xfrm>
            <a:off x="3448050" y="2238375"/>
            <a:ext cx="647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2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ED70329-6CA4-4AA8-9DFE-99BABFEE7E91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16383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Karanvir Singh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FEC7806-E28E-4486-ACF6-A78274448C08}"/>
              </a:ext>
            </a:extLst>
          </p:cNvPr>
          <p:cNvSpPr>
            <a:spLocks noGrp="1"/>
          </p:cNvSpPr>
          <p:nvPr/>
        </p:nvSpPr>
        <p:spPr>
          <a:xfrm>
            <a:off x="2952750" y="3209925"/>
            <a:ext cx="16383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B6780"/>
                </a:solidFill>
              </a:defRPr>
            </a:pPr>
            <a:r>
              <a:rPr sz="1200" b="0">
                <a:solidFill>
                  <a:srgbClr val="5B6780"/>
                </a:solidFill>
              </a:rPr>
              <a:t>102317045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E8B1D04-6719-480E-BD2B-DDCF1621013C}"/>
              </a:ext>
            </a:extLst>
          </p:cNvPr>
          <p:cNvSpPr>
            <a:spLocks noGrp="1"/>
          </p:cNvSpPr>
          <p:nvPr/>
        </p:nvSpPr>
        <p:spPr>
          <a:xfrm>
            <a:off x="2971800" y="3600450"/>
            <a:ext cx="1600200" cy="1238250"/>
          </a:xfrm>
          <a:prstGeom prst="roundRect">
            <a:avLst>
              <a:gd name="adj" fmla="val 615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Environment and dependency management; debugging model loading and benchmark intake.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5E25E376-BE7D-46E7-8928-1D4652521810}"/>
              </a:ext>
            </a:extLst>
          </p:cNvPr>
          <p:cNvSpPr>
            <a:spLocks noGrp="1"/>
          </p:cNvSpPr>
          <p:nvPr/>
        </p:nvSpPr>
        <p:spPr>
          <a:xfrm>
            <a:off x="4953000" y="18669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1903373-025E-40C9-8651-AD390D2EC314}"/>
              </a:ext>
            </a:extLst>
          </p:cNvPr>
          <p:cNvSpPr>
            <a:spLocks noGrp="1"/>
          </p:cNvSpPr>
          <p:nvPr/>
        </p:nvSpPr>
        <p:spPr>
          <a:xfrm>
            <a:off x="5619750" y="2105025"/>
            <a:ext cx="647700" cy="6477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885B776-C4C6-4C4F-96FB-BF7F0A416C26}"/>
              </a:ext>
            </a:extLst>
          </p:cNvPr>
          <p:cNvSpPr>
            <a:spLocks noGrp="1"/>
          </p:cNvSpPr>
          <p:nvPr/>
        </p:nvSpPr>
        <p:spPr>
          <a:xfrm>
            <a:off x="5619750" y="2238375"/>
            <a:ext cx="647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3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07C547C-0974-4F22-9F1F-7DD77DC50874}"/>
              </a:ext>
            </a:extLst>
          </p:cNvPr>
          <p:cNvSpPr>
            <a:spLocks noGrp="1"/>
          </p:cNvSpPr>
          <p:nvPr/>
        </p:nvSpPr>
        <p:spPr>
          <a:xfrm>
            <a:off x="5124450" y="2952750"/>
            <a:ext cx="16383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Kalpesh Paliwal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273EFC9-C791-4AD8-94E9-E355E775CF53}"/>
              </a:ext>
            </a:extLst>
          </p:cNvPr>
          <p:cNvSpPr>
            <a:spLocks noGrp="1"/>
          </p:cNvSpPr>
          <p:nvPr/>
        </p:nvSpPr>
        <p:spPr>
          <a:xfrm>
            <a:off x="5124450" y="3209925"/>
            <a:ext cx="16383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B6780"/>
                </a:solidFill>
              </a:defRPr>
            </a:pPr>
            <a:r>
              <a:rPr sz="1200" b="0">
                <a:solidFill>
                  <a:srgbClr val="5B6780"/>
                </a:solidFill>
              </a:rPr>
              <a:t>102317087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0EA19C28-A68F-4639-BA36-5E2FC3F00F66}"/>
              </a:ext>
            </a:extLst>
          </p:cNvPr>
          <p:cNvSpPr>
            <a:spLocks noGrp="1"/>
          </p:cNvSpPr>
          <p:nvPr/>
        </p:nvSpPr>
        <p:spPr>
          <a:xfrm>
            <a:off x="5143500" y="3600450"/>
            <a:ext cx="1600200" cy="1238250"/>
          </a:xfrm>
          <a:prstGeom prst="roundRect">
            <a:avLst>
              <a:gd name="adj" fmla="val 615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4213D"/>
                </a:solidFill>
              </a:defRPr>
            </a:pPr>
            <a:r>
              <a:rPr sz="1200" b="0" dirty="0">
                <a:solidFill>
                  <a:srgbClr val="14213D"/>
                </a:solidFill>
              </a:rPr>
              <a:t>Breadth probe tiers B0/B1; data pipeline; result interpretation.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D1ED399-5806-4D63-AC79-08F90A402C3F}"/>
              </a:ext>
            </a:extLst>
          </p:cNvPr>
          <p:cNvSpPr>
            <a:spLocks noGrp="1"/>
          </p:cNvSpPr>
          <p:nvPr/>
        </p:nvSpPr>
        <p:spPr>
          <a:xfrm>
            <a:off x="7124700" y="18669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E9574773-C03F-42E1-B15B-1965754B9DB5}"/>
              </a:ext>
            </a:extLst>
          </p:cNvPr>
          <p:cNvSpPr>
            <a:spLocks noGrp="1"/>
          </p:cNvSpPr>
          <p:nvPr/>
        </p:nvSpPr>
        <p:spPr>
          <a:xfrm>
            <a:off x="7791450" y="2105025"/>
            <a:ext cx="647700" cy="6477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4B1A8708-B00B-467C-A45A-FA4CF953BB4F}"/>
              </a:ext>
            </a:extLst>
          </p:cNvPr>
          <p:cNvSpPr>
            <a:spLocks noGrp="1"/>
          </p:cNvSpPr>
          <p:nvPr/>
        </p:nvSpPr>
        <p:spPr>
          <a:xfrm>
            <a:off x="7791450" y="2238375"/>
            <a:ext cx="647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4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C7737C50-9114-41B4-88ED-D3FDB70E1F55}"/>
              </a:ext>
            </a:extLst>
          </p:cNvPr>
          <p:cNvSpPr>
            <a:spLocks noGrp="1"/>
          </p:cNvSpPr>
          <p:nvPr/>
        </p:nvSpPr>
        <p:spPr>
          <a:xfrm>
            <a:off x="7296150" y="2952750"/>
            <a:ext cx="16383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Rujul Ganjoo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C84BBC20-1B59-4252-B361-AC60A48499BB}"/>
              </a:ext>
            </a:extLst>
          </p:cNvPr>
          <p:cNvSpPr>
            <a:spLocks noGrp="1"/>
          </p:cNvSpPr>
          <p:nvPr/>
        </p:nvSpPr>
        <p:spPr>
          <a:xfrm>
            <a:off x="7296150" y="3209925"/>
            <a:ext cx="16383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B6780"/>
                </a:solidFill>
              </a:defRPr>
            </a:pPr>
            <a:r>
              <a:rPr sz="1200" b="0">
                <a:solidFill>
                  <a:srgbClr val="5B6780"/>
                </a:solidFill>
              </a:rPr>
              <a:t>102317200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E676B432-0332-4E94-92BA-9D5BBD733E6E}"/>
              </a:ext>
            </a:extLst>
          </p:cNvPr>
          <p:cNvSpPr>
            <a:spLocks noGrp="1"/>
          </p:cNvSpPr>
          <p:nvPr/>
        </p:nvSpPr>
        <p:spPr>
          <a:xfrm>
            <a:off x="7315200" y="3600450"/>
            <a:ext cx="1600200" cy="1238250"/>
          </a:xfrm>
          <a:prstGeom prst="roundRect">
            <a:avLst>
              <a:gd name="adj" fmla="val 615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Depth-probe measurement and evaluation harness; cross-checks across runs and model scales.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D9A34C1-3AF0-4DE7-B24D-126DDE893E6D}"/>
              </a:ext>
            </a:extLst>
          </p:cNvPr>
          <p:cNvSpPr>
            <a:spLocks noGrp="1"/>
          </p:cNvSpPr>
          <p:nvPr/>
        </p:nvSpPr>
        <p:spPr>
          <a:xfrm>
            <a:off x="9296400" y="1866900"/>
            <a:ext cx="1981200" cy="3238500"/>
          </a:xfrm>
          <a:prstGeom prst="roundRect">
            <a:avLst>
              <a:gd name="adj" fmla="val 5769"/>
            </a:avLst>
          </a:prstGeom>
          <a:solidFill>
            <a:srgbClr val="FFFFFF"/>
          </a:solidFill>
          <a:ln w="9525">
            <a:solidFill>
              <a:srgbClr val="CAD5E4"/>
            </a:solidFill>
            <a:prstDash val="solid"/>
          </a:ln>
        </p:spPr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ACD60B02-7995-4795-8271-E02A1EFDF349}"/>
              </a:ext>
            </a:extLst>
          </p:cNvPr>
          <p:cNvSpPr>
            <a:spLocks noGrp="1"/>
          </p:cNvSpPr>
          <p:nvPr/>
        </p:nvSpPr>
        <p:spPr>
          <a:xfrm>
            <a:off x="9963150" y="2105025"/>
            <a:ext cx="647700" cy="647700"/>
          </a:xfrm>
          <a:prstGeom prst="ellipse">
            <a:avLst/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55A22349-B3E5-4CAC-ACFB-6F8C33288B76}"/>
              </a:ext>
            </a:extLst>
          </p:cNvPr>
          <p:cNvSpPr>
            <a:spLocks noGrp="1"/>
          </p:cNvSpPr>
          <p:nvPr/>
        </p:nvSpPr>
        <p:spPr>
          <a:xfrm>
            <a:off x="9963150" y="2238375"/>
            <a:ext cx="647700" cy="323850"/>
          </a:xfrm>
          <a:prstGeom prst="roundRect">
            <a:avLst>
              <a:gd name="adj" fmla="val 2352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800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5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342B833D-9C14-4617-826E-9A93B908A6E5}"/>
              </a:ext>
            </a:extLst>
          </p:cNvPr>
          <p:cNvSpPr>
            <a:spLocks noGrp="1"/>
          </p:cNvSpPr>
          <p:nvPr/>
        </p:nvSpPr>
        <p:spPr>
          <a:xfrm>
            <a:off x="9467850" y="2952750"/>
            <a:ext cx="16383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75" b="1">
                <a:solidFill>
                  <a:srgbClr val="174B96"/>
                </a:solidFill>
              </a:defRPr>
            </a:pPr>
            <a:r>
              <a:rPr sz="1200" b="1">
                <a:solidFill>
                  <a:srgbClr val="174B96"/>
                </a:solidFill>
              </a:rPr>
              <a:t>Pranav Goyal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F7AEED2-3582-4458-8CF8-A1C2CFB37673}"/>
              </a:ext>
            </a:extLst>
          </p:cNvPr>
          <p:cNvSpPr>
            <a:spLocks noGrp="1"/>
          </p:cNvSpPr>
          <p:nvPr/>
        </p:nvSpPr>
        <p:spPr>
          <a:xfrm>
            <a:off x="9467850" y="3209925"/>
            <a:ext cx="1638300" cy="171450"/>
          </a:xfrm>
          <a:prstGeom prst="roundRect">
            <a:avLst>
              <a:gd name="adj" fmla="val 4444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5B6780"/>
                </a:solidFill>
              </a:defRPr>
            </a:pPr>
            <a:r>
              <a:rPr sz="1200" b="0">
                <a:solidFill>
                  <a:srgbClr val="5B6780"/>
                </a:solidFill>
              </a:rPr>
              <a:t>102303829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F4D964D-138B-47D4-8A3D-D451A552EE33}"/>
              </a:ext>
            </a:extLst>
          </p:cNvPr>
          <p:cNvSpPr>
            <a:spLocks noGrp="1"/>
          </p:cNvSpPr>
          <p:nvPr/>
        </p:nvSpPr>
        <p:spPr>
          <a:xfrm>
            <a:off x="9486900" y="3600450"/>
            <a:ext cx="1600200" cy="1238250"/>
          </a:xfrm>
          <a:prstGeom prst="roundRect">
            <a:avLst>
              <a:gd name="adj" fmla="val 615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050" b="0">
                <a:solidFill>
                  <a:srgbClr val="14213D"/>
                </a:solidFill>
              </a:defRPr>
            </a:pPr>
            <a:r>
              <a:rPr sz="1200" b="0">
                <a:solidFill>
                  <a:srgbClr val="14213D"/>
                </a:solidFill>
              </a:rPr>
              <a:t>Documentation, figures, and preparation of the report and presentation.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AA25C97A-8D5C-4A7B-BD1C-78BA7C08332F}"/>
              </a:ext>
            </a:extLst>
          </p:cNvPr>
          <p:cNvSpPr>
            <a:spLocks noGrp="1"/>
          </p:cNvSpPr>
          <p:nvPr/>
        </p:nvSpPr>
        <p:spPr>
          <a:xfrm>
            <a:off x="609600" y="5524500"/>
            <a:ext cx="10706100" cy="476250"/>
          </a:xfrm>
          <a:prstGeom prst="roundRect">
            <a:avLst>
              <a:gd name="adj" fmla="val 16000"/>
            </a:avLst>
          </a:prstGeom>
          <a:solidFill>
            <a:srgbClr val="EAF2FF"/>
          </a:solidFill>
          <a:ln w="9525">
            <a:solidFill>
              <a:srgbClr val="B5C7E5"/>
            </a:solidFill>
            <a:prstDash val="solid"/>
          </a:ln>
        </p:spPr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A7BAA88-45F6-46B3-A661-85731AD5EE40}"/>
              </a:ext>
            </a:extLst>
          </p:cNvPr>
          <p:cNvSpPr>
            <a:spLocks noGrp="1"/>
          </p:cNvSpPr>
          <p:nvPr/>
        </p:nvSpPr>
        <p:spPr>
          <a:xfrm>
            <a:off x="800100" y="5657850"/>
            <a:ext cx="102870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14213D"/>
                </a:solidFill>
              </a:defRPr>
            </a:pPr>
            <a:r>
              <a:rPr sz="1200" b="1">
                <a:solidFill>
                  <a:srgbClr val="14213D"/>
                </a:solidFill>
              </a:rPr>
              <a:t>All members contributed jointly to code review, testing and preparation of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1886756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9E1CED-3D35-4B20-92BE-47D872B9DC54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CURRENT PROGRESS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F251C719-5FFF-44B1-A016-AA936D1FD786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Nine work packages are complete at mid-semester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CBDBF23-7C10-4C81-B860-386BEC2565FB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14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A3E8219-DDFC-4C2D-B96E-88054AE3842D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133B625-3F53-4DF6-8F1D-015CF69E4624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Current Progress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0FBFBEA-B3E1-44CD-B573-79D7EACEE7AD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792614" y="1476375"/>
            <a:ext cx="6606771" cy="466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695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B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C0493B0B-3CF3-4C4D-9E04-547C803A2FC3}"/>
              </a:ext>
            </a:extLst>
          </p:cNvPr>
          <p:cNvSpPr>
            <a:spLocks noGrp="1"/>
          </p:cNvSpPr>
          <p:nvPr/>
        </p:nvSpPr>
        <p:spPr>
          <a:xfrm>
            <a:off x="609600" y="323850"/>
            <a:ext cx="40005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900" b="1">
                <a:solidFill>
                  <a:srgbClr val="174B96"/>
                </a:solidFill>
              </a:defRPr>
            </a:pPr>
            <a:r>
              <a:rPr sz="900" b="1">
                <a:solidFill>
                  <a:srgbClr val="174B96"/>
                </a:solidFill>
              </a:rPr>
              <a:t>FUTURE WORK &amp; CONCLUSION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961D044-2B3C-4630-A509-1D2D913A6303}"/>
              </a:ext>
            </a:extLst>
          </p:cNvPr>
          <p:cNvSpPr>
            <a:spLocks noGrp="1"/>
          </p:cNvSpPr>
          <p:nvPr/>
        </p:nvSpPr>
        <p:spPr>
          <a:xfrm>
            <a:off x="609600" y="571500"/>
            <a:ext cx="9906000" cy="447675"/>
          </a:xfrm>
          <a:prstGeom prst="roundRect">
            <a:avLst>
              <a:gd name="adj" fmla="val 17021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2400" b="1">
                <a:solidFill>
                  <a:srgbClr val="14213D"/>
                </a:solidFill>
              </a:defRPr>
            </a:pPr>
            <a:r>
              <a:rPr sz="2400" b="1">
                <a:solidFill>
                  <a:srgbClr val="14213D"/>
                </a:solidFill>
              </a:rPr>
              <a:t>From first trajectory to reliable evidence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2358689-E006-46AF-B10B-BD0C2813DDDE}"/>
              </a:ext>
            </a:extLst>
          </p:cNvPr>
          <p:cNvSpPr>
            <a:spLocks noGrp="1"/>
          </p:cNvSpPr>
          <p:nvPr/>
        </p:nvSpPr>
        <p:spPr>
          <a:xfrm>
            <a:off x="10858500" y="361950"/>
            <a:ext cx="723900" cy="190500"/>
          </a:xfrm>
          <a:prstGeom prst="roundRect">
            <a:avLst>
              <a:gd name="adj" fmla="val 4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900" b="1">
                <a:solidFill>
                  <a:srgbClr val="5B6780"/>
                </a:solidFill>
              </a:defRPr>
            </a:pPr>
            <a:r>
              <a:rPr sz="900" b="1">
                <a:solidFill>
                  <a:srgbClr val="5B6780"/>
                </a:solidFill>
              </a:rPr>
              <a:t>15 / 15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229D088-0F3B-42DB-86C9-FCC7591363E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19050"/>
          </a:xfrm>
          <a:prstGeom prst="roundRect">
            <a:avLst>
              <a:gd name="adj" fmla="val 50000"/>
            </a:avLst>
          </a:prstGeom>
          <a:solidFill>
            <a:srgbClr val="174B96"/>
          </a:solidFill>
          <a:ln w="0">
            <a:noFill/>
            <a:prstDash val="solid"/>
          </a:ln>
        </p:spPr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5641199-C9AD-4BD9-B282-0BC0CF63A376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47625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Future Work &amp; Conclusion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9278A65-8066-427B-BF05-71C650098192}"/>
              </a:ext>
            </a:extLst>
          </p:cNvPr>
          <p:cNvSpPr>
            <a:spLocks noGrp="1"/>
          </p:cNvSpPr>
          <p:nvPr/>
        </p:nvSpPr>
        <p:spPr>
          <a:xfrm>
            <a:off x="8191500" y="6515100"/>
            <a:ext cx="3390900" cy="133350"/>
          </a:xfrm>
          <a:prstGeom prst="roundRect">
            <a:avLst>
              <a:gd name="adj" fmla="val 50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defRPr sz="750" b="0">
                <a:solidFill>
                  <a:srgbClr val="5B6780"/>
                </a:solidFill>
              </a:defRPr>
            </a:pPr>
            <a:r>
              <a:rPr sz="750" b="0">
                <a:solidFill>
                  <a:srgbClr val="5B6780"/>
                </a:solidFill>
              </a:rPr>
              <a:t>DeepErase · CPG 221 · August 2026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91FC9BA-0AEA-443B-83C9-CF900179E2AD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51435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Five priorities complete the measurement programme.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7FBE3B5-566F-4383-AF24-10C87B471CF6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4191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B42318"/>
                </a:solidFill>
              </a:defRPr>
            </a:pPr>
            <a:r>
              <a:rPr sz="1400" b="1">
                <a:solidFill>
                  <a:srgbClr val="B42318"/>
                </a:solidFill>
              </a:rPr>
              <a:t>T0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323B4EC-0C09-4072-9251-101091E245B6}"/>
              </a:ext>
            </a:extLst>
          </p:cNvPr>
          <p:cNvSpPr>
            <a:spLocks noGrp="1"/>
          </p:cNvSpPr>
          <p:nvPr/>
        </p:nvSpPr>
        <p:spPr>
          <a:xfrm>
            <a:off x="1428750" y="1952625"/>
            <a:ext cx="30480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Cross-validate depth axis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32B5B6AD-5237-4918-A8EA-4055FC78B2E5}"/>
              </a:ext>
            </a:extLst>
          </p:cNvPr>
          <p:cNvSpPr>
            <a:spLocks noGrp="1"/>
          </p:cNvSpPr>
          <p:nvPr/>
        </p:nvSpPr>
        <p:spPr>
          <a:xfrm>
            <a:off x="4762500" y="1952625"/>
            <a:ext cx="600075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Run both implementations on identical inputs.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D42130A4-2642-45F3-A8B2-10F07BAB6568}"/>
              </a:ext>
            </a:extLst>
          </p:cNvPr>
          <p:cNvSpPr>
            <a:spLocks noGrp="1"/>
          </p:cNvSpPr>
          <p:nvPr/>
        </p:nvSpPr>
        <p:spPr>
          <a:xfrm>
            <a:off x="609600" y="2305050"/>
            <a:ext cx="10382250" cy="9525"/>
          </a:xfrm>
          <a:prstGeom prst="roundRect">
            <a:avLst>
              <a:gd name="adj" fmla="val 50000"/>
            </a:avLst>
          </a:prstGeom>
          <a:solidFill>
            <a:srgbClr val="CAD5E4"/>
          </a:solidFill>
          <a:ln w="0">
            <a:noFill/>
            <a:prstDash val="solid"/>
          </a:ln>
        </p:spPr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BD50121-726E-4824-9E02-0CCF35999079}"/>
              </a:ext>
            </a:extLst>
          </p:cNvPr>
          <p:cNvSpPr>
            <a:spLocks noGrp="1"/>
          </p:cNvSpPr>
          <p:nvPr/>
        </p:nvSpPr>
        <p:spPr>
          <a:xfrm>
            <a:off x="762000" y="2400300"/>
            <a:ext cx="4191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T1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10328EE-8021-4A67-BA2E-6E4C0DDB267D}"/>
              </a:ext>
            </a:extLst>
          </p:cNvPr>
          <p:cNvSpPr>
            <a:spLocks noGrp="1"/>
          </p:cNvSpPr>
          <p:nvPr/>
        </p:nvSpPr>
        <p:spPr>
          <a:xfrm>
            <a:off x="1428750" y="2400300"/>
            <a:ext cx="30480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Separate general damage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85878D3-3DA9-4D36-A60E-2F59FECE14E1}"/>
              </a:ext>
            </a:extLst>
          </p:cNvPr>
          <p:cNvSpPr>
            <a:spLocks noGrp="1"/>
          </p:cNvSpPr>
          <p:nvPr/>
        </p:nvSpPr>
        <p:spPr>
          <a:xfrm>
            <a:off x="4762500" y="2400300"/>
            <a:ext cx="600075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Add an equal-sized unrelated update control.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BA8DB09-ACEB-496B-B2AF-CDE1316060DD}"/>
              </a:ext>
            </a:extLst>
          </p:cNvPr>
          <p:cNvSpPr>
            <a:spLocks noGrp="1"/>
          </p:cNvSpPr>
          <p:nvPr/>
        </p:nvSpPr>
        <p:spPr>
          <a:xfrm>
            <a:off x="609600" y="2752725"/>
            <a:ext cx="10382250" cy="9525"/>
          </a:xfrm>
          <a:prstGeom prst="roundRect">
            <a:avLst>
              <a:gd name="adj" fmla="val 50000"/>
            </a:avLst>
          </a:prstGeom>
          <a:solidFill>
            <a:srgbClr val="CAD5E4"/>
          </a:solidFill>
          <a:ln w="0">
            <a:noFill/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176829D-38D2-4BC8-82DB-C7D0DFA5A0F8}"/>
              </a:ext>
            </a:extLst>
          </p:cNvPr>
          <p:cNvSpPr>
            <a:spLocks noGrp="1"/>
          </p:cNvSpPr>
          <p:nvPr/>
        </p:nvSpPr>
        <p:spPr>
          <a:xfrm>
            <a:off x="762000" y="2847975"/>
            <a:ext cx="4191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T2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4F5D3642-74A4-42E5-9100-C8FBFBF0C7F6}"/>
              </a:ext>
            </a:extLst>
          </p:cNvPr>
          <p:cNvSpPr>
            <a:spLocks noGrp="1"/>
          </p:cNvSpPr>
          <p:nvPr/>
        </p:nvSpPr>
        <p:spPr>
          <a:xfrm>
            <a:off x="1428750" y="2847975"/>
            <a:ext cx="30480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Replicate methods and seeds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0E01B23-E43C-4C3F-914B-ADB1010FFAB5}"/>
              </a:ext>
            </a:extLst>
          </p:cNvPr>
          <p:cNvSpPr>
            <a:spLocks noGrp="1"/>
          </p:cNvSpPr>
          <p:nvPr/>
        </p:nvSpPr>
        <p:spPr>
          <a:xfrm>
            <a:off x="4762500" y="2847975"/>
            <a:ext cx="600075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NPO and GradDiff, three seeds each.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C8F65F62-BFFD-4D0B-A731-F448EB7FBB9B}"/>
              </a:ext>
            </a:extLst>
          </p:cNvPr>
          <p:cNvSpPr>
            <a:spLocks noGrp="1"/>
          </p:cNvSpPr>
          <p:nvPr/>
        </p:nvSpPr>
        <p:spPr>
          <a:xfrm>
            <a:off x="609600" y="3200400"/>
            <a:ext cx="10382250" cy="9525"/>
          </a:xfrm>
          <a:prstGeom prst="roundRect">
            <a:avLst>
              <a:gd name="adj" fmla="val 50000"/>
            </a:avLst>
          </a:prstGeom>
          <a:solidFill>
            <a:srgbClr val="CAD5E4"/>
          </a:solidFill>
          <a:ln w="0">
            <a:noFill/>
            <a:prstDash val="solid"/>
          </a:ln>
        </p:spPr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99C13AA-786C-4800-9697-FCA7D7BF6E7A}"/>
              </a:ext>
            </a:extLst>
          </p:cNvPr>
          <p:cNvSpPr>
            <a:spLocks noGrp="1"/>
          </p:cNvSpPr>
          <p:nvPr/>
        </p:nvSpPr>
        <p:spPr>
          <a:xfrm>
            <a:off x="762000" y="3295650"/>
            <a:ext cx="4191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T3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A313F18-66A8-4E30-BFA1-7CC4E5E72DE3}"/>
              </a:ext>
            </a:extLst>
          </p:cNvPr>
          <p:cNvSpPr>
            <a:spLocks noGrp="1"/>
          </p:cNvSpPr>
          <p:nvPr/>
        </p:nvSpPr>
        <p:spPr>
          <a:xfrm>
            <a:off x="1428750" y="3295650"/>
            <a:ext cx="30480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Extend breadth ladder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605665D-A6FA-4AFE-9FCF-13BA3D113089}"/>
              </a:ext>
            </a:extLst>
          </p:cNvPr>
          <p:cNvSpPr>
            <a:spLocks noGrp="1"/>
          </p:cNvSpPr>
          <p:nvPr/>
        </p:nvSpPr>
        <p:spPr>
          <a:xfrm>
            <a:off x="4762500" y="3295650"/>
            <a:ext cx="600075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Validate B2–B4: alias, entailed fact, two-hop.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4D2308D8-ECD1-41DC-B11E-D95C97D96BFE}"/>
              </a:ext>
            </a:extLst>
          </p:cNvPr>
          <p:cNvSpPr>
            <a:spLocks noGrp="1"/>
          </p:cNvSpPr>
          <p:nvPr/>
        </p:nvSpPr>
        <p:spPr>
          <a:xfrm>
            <a:off x="609600" y="3648075"/>
            <a:ext cx="10382250" cy="9525"/>
          </a:xfrm>
          <a:prstGeom prst="roundRect">
            <a:avLst>
              <a:gd name="adj" fmla="val 50000"/>
            </a:avLst>
          </a:prstGeom>
          <a:solidFill>
            <a:srgbClr val="CAD5E4"/>
          </a:solidFill>
          <a:ln w="0">
            <a:noFill/>
            <a:prstDash val="solid"/>
          </a:ln>
        </p:spPr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19341A4B-6CEF-46CA-86A5-0F0947642315}"/>
              </a:ext>
            </a:extLst>
          </p:cNvPr>
          <p:cNvSpPr>
            <a:spLocks noGrp="1"/>
          </p:cNvSpPr>
          <p:nvPr/>
        </p:nvSpPr>
        <p:spPr>
          <a:xfrm>
            <a:off x="762000" y="3743325"/>
            <a:ext cx="4191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1">
                <a:solidFill>
                  <a:srgbClr val="174B96"/>
                </a:solidFill>
              </a:defRPr>
            </a:pPr>
            <a:r>
              <a:rPr sz="1400" b="1">
                <a:solidFill>
                  <a:srgbClr val="174B96"/>
                </a:solidFill>
              </a:rPr>
              <a:t>T4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043F4D9-B57C-4607-A089-A561E93DE7EF}"/>
              </a:ext>
            </a:extLst>
          </p:cNvPr>
          <p:cNvSpPr>
            <a:spLocks noGrp="1"/>
          </p:cNvSpPr>
          <p:nvPr/>
        </p:nvSpPr>
        <p:spPr>
          <a:xfrm>
            <a:off x="1428750" y="3743325"/>
            <a:ext cx="304800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1">
                <a:solidFill>
                  <a:srgbClr val="14213D"/>
                </a:solidFill>
              </a:defRPr>
            </a:pPr>
            <a:r>
              <a:rPr sz="1400" b="1">
                <a:solidFill>
                  <a:srgbClr val="14213D"/>
                </a:solidFill>
              </a:rPr>
              <a:t>Scale and consolidate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F7C4D128-86A3-4DF5-81A4-0299AF43813C}"/>
              </a:ext>
            </a:extLst>
          </p:cNvPr>
          <p:cNvSpPr>
            <a:spLocks noGrp="1"/>
          </p:cNvSpPr>
          <p:nvPr/>
        </p:nvSpPr>
        <p:spPr>
          <a:xfrm>
            <a:off x="4762500" y="3743325"/>
            <a:ext cx="6000750" cy="209550"/>
          </a:xfrm>
          <a:prstGeom prst="roundRect">
            <a:avLst>
              <a:gd name="adj" fmla="val 36364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200" b="0">
                <a:solidFill>
                  <a:srgbClr val="5B6780"/>
                </a:solidFill>
              </a:defRPr>
            </a:pPr>
            <a:r>
              <a:rPr sz="1400" b="0">
                <a:solidFill>
                  <a:srgbClr val="5B6780"/>
                </a:solidFill>
              </a:rPr>
              <a:t>Repeat at 3B; add LoRA; finalise report.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87413A44-3D36-496D-8B55-98061D288A94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382250" cy="9525"/>
          </a:xfrm>
          <a:prstGeom prst="roundRect">
            <a:avLst>
              <a:gd name="adj" fmla="val 50000"/>
            </a:avLst>
          </a:prstGeom>
          <a:solidFill>
            <a:srgbClr val="CAD5E4"/>
          </a:solidFill>
          <a:ln w="0">
            <a:noFill/>
            <a:prstDash val="solid"/>
          </a:ln>
        </p:spPr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C5CA4E9-6A6D-4400-8CCC-2A720207D7EF}"/>
              </a:ext>
            </a:extLst>
          </p:cNvPr>
          <p:cNvSpPr>
            <a:spLocks noGrp="1"/>
          </p:cNvSpPr>
          <p:nvPr/>
        </p:nvSpPr>
        <p:spPr>
          <a:xfrm>
            <a:off x="609600" y="4476750"/>
            <a:ext cx="76200" cy="1066800"/>
          </a:xfrm>
          <a:prstGeom prst="roundRect">
            <a:avLst>
              <a:gd name="adj" fmla="val 50000"/>
            </a:avLst>
          </a:prstGeom>
          <a:solidFill>
            <a:srgbClr val="0B2E63"/>
          </a:solidFill>
          <a:ln w="9525">
            <a:solidFill>
              <a:srgbClr val="0B2E63"/>
            </a:solidFill>
            <a:prstDash val="solid"/>
          </a:ln>
        </p:spPr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6C563B14-BB84-438C-A4BB-FCEBAE0C9341}"/>
              </a:ext>
            </a:extLst>
          </p:cNvPr>
          <p:cNvSpPr>
            <a:spLocks noGrp="1"/>
          </p:cNvSpPr>
          <p:nvPr/>
        </p:nvSpPr>
        <p:spPr>
          <a:xfrm>
            <a:off x="895350" y="4552950"/>
            <a:ext cx="180975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650" b="1">
                <a:solidFill>
                  <a:srgbClr val="0B2E63"/>
                </a:solidFill>
              </a:defRPr>
            </a:pPr>
            <a:r>
              <a:rPr sz="1400" b="1">
                <a:solidFill>
                  <a:srgbClr val="0B2E63"/>
                </a:solidFill>
              </a:rPr>
              <a:t>Conclusion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1DBC6514-401F-4F5D-8C49-0F7CAD868543}"/>
              </a:ext>
            </a:extLst>
          </p:cNvPr>
          <p:cNvSpPr>
            <a:spLocks noGrp="1"/>
          </p:cNvSpPr>
          <p:nvPr/>
        </p:nvSpPr>
        <p:spPr>
          <a:xfrm>
            <a:off x="895350" y="4895850"/>
            <a:ext cx="9906000" cy="476250"/>
          </a:xfrm>
          <a:prstGeom prst="roundRect">
            <a:avLst>
              <a:gd name="adj" fmla="val 16000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l">
              <a:defRPr sz="1350" b="0">
                <a:solidFill>
                  <a:srgbClr val="14213D"/>
                </a:solidFill>
              </a:defRPr>
            </a:pPr>
            <a:r>
              <a:rPr sz="1400" b="0">
                <a:solidFill>
                  <a:srgbClr val="14213D"/>
                </a:solidFill>
              </a:rPr>
              <a:t>DeepErase gives a reproducible way to measure internal removal depth, removal breadth beyond exact wording, and the controlled depth-breadth trajectory. The current prototype validates the depth instrument and demonstrates one complete 1B trajectory; the remaining work strengthens controls, replication and scale.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390E81B6-537A-45C0-975D-D0137CC5A48E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10706100" cy="247650"/>
          </a:xfrm>
          <a:prstGeom prst="roundRect">
            <a:avLst>
              <a:gd name="adj" fmla="val 30769"/>
            </a:avLst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ctr">
              <a:defRPr sz="1575" b="1">
                <a:solidFill>
                  <a:srgbClr val="0B2E63"/>
                </a:solidFill>
              </a:defRPr>
            </a:pPr>
            <a:r>
              <a:rPr sz="1400" b="1">
                <a:solidFill>
                  <a:srgbClr val="0B2E63"/>
                </a:solidFill>
              </a:rPr>
              <a:t>Thank you · Questions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206336707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1926</Words>
  <Application>Microsoft Office PowerPoint</Application>
  <DocSecurity>0</DocSecurity>
  <PresentationFormat>Widescreen</PresentationFormat>
  <Paragraphs>334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Rujul Ganjoo</cp:lastModifiedBy>
  <cp:revision>2</cp:revision>
  <dcterms:created xsi:type="dcterms:W3CDTF">2026-08-20T14:11:08Z</dcterms:created>
  <dcterms:modified xsi:type="dcterms:W3CDTF">2026-08-21T12:12:27Z</dcterms:modified>
</cp:coreProperties>
</file>